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pn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png"/><Relationship Id="rId25" Type="http://schemas.openxmlformats.org/officeDocument/2006/relationships/image" Target="../media/image-14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image" Target="../media/image-16-19.png"/><Relationship Id="rId20" Type="http://schemas.openxmlformats.org/officeDocument/2006/relationships/image" Target="../media/image-16-20.png"/><Relationship Id="rId21" Type="http://schemas.openxmlformats.org/officeDocument/2006/relationships/image" Target="../media/image-16-21.png"/><Relationship Id="rId22" Type="http://schemas.openxmlformats.org/officeDocument/2006/relationships/image" Target="../media/image-16-22.png"/><Relationship Id="rId23" Type="http://schemas.openxmlformats.org/officeDocument/2006/relationships/image" Target="../media/image-16-23.png"/><Relationship Id="rId24" Type="http://schemas.openxmlformats.org/officeDocument/2006/relationships/image" Target="../media/image-16-24.png"/><Relationship Id="rId25" Type="http://schemas.openxmlformats.org/officeDocument/2006/relationships/image" Target="../media/image-16-25.png"/><Relationship Id="rId26" Type="http://schemas.openxmlformats.org/officeDocument/2006/relationships/image" Target="../media/image-16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pn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png"/><Relationship Id="rId21" Type="http://schemas.openxmlformats.org/officeDocument/2006/relationships/image" Target="../media/image-19-21.png"/><Relationship Id="rId22" Type="http://schemas.openxmlformats.org/officeDocument/2006/relationships/image" Target="../media/image-19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pn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png"/><Relationship Id="rId17" Type="http://schemas.openxmlformats.org/officeDocument/2006/relationships/image" Target="../media/image-2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pn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png"/><Relationship Id="rId15" Type="http://schemas.openxmlformats.org/officeDocument/2006/relationships/image" Target="../media/image-22-15.png"/><Relationship Id="rId16" Type="http://schemas.openxmlformats.org/officeDocument/2006/relationships/image" Target="../media/image-22-16.png"/><Relationship Id="rId17" Type="http://schemas.openxmlformats.org/officeDocument/2006/relationships/image" Target="../media/image-22-17.png"/><Relationship Id="rId18" Type="http://schemas.openxmlformats.org/officeDocument/2006/relationships/image" Target="../media/image-22-18.png"/><Relationship Id="rId19" Type="http://schemas.openxmlformats.org/officeDocument/2006/relationships/image" Target="../media/image-22-19.png"/><Relationship Id="rId20" Type="http://schemas.openxmlformats.org/officeDocument/2006/relationships/image" Target="../media/image-22-20.png"/><Relationship Id="rId21" Type="http://schemas.openxmlformats.org/officeDocument/2006/relationships/image" Target="../media/image-22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png"/><Relationship Id="rId15" Type="http://schemas.openxmlformats.org/officeDocument/2006/relationships/image" Target="../media/image-23-15.png"/><Relationship Id="rId16" Type="http://schemas.openxmlformats.org/officeDocument/2006/relationships/image" Target="../media/image-23-16.png"/><Relationship Id="rId17" Type="http://schemas.openxmlformats.org/officeDocument/2006/relationships/image" Target="../media/image-23-17.png"/><Relationship Id="rId18" Type="http://schemas.openxmlformats.org/officeDocument/2006/relationships/image" Target="../media/image-23-18.png"/><Relationship Id="rId19" Type="http://schemas.openxmlformats.org/officeDocument/2006/relationships/image" Target="../media/image-23-19.png"/><Relationship Id="rId20" Type="http://schemas.openxmlformats.org/officeDocument/2006/relationships/image" Target="../media/image-23-20.png"/><Relationship Id="rId21" Type="http://schemas.openxmlformats.org/officeDocument/2006/relationships/image" Target="../media/image-23-21.png"/><Relationship Id="rId22" Type="http://schemas.openxmlformats.org/officeDocument/2006/relationships/image" Target="../media/image-23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pn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png"/><Relationship Id="rId17" Type="http://schemas.openxmlformats.org/officeDocument/2006/relationships/image" Target="../media/image-25-17.png"/><Relationship Id="rId18" Type="http://schemas.openxmlformats.org/officeDocument/2006/relationships/image" Target="../media/image-25-18.png"/><Relationship Id="rId19" Type="http://schemas.openxmlformats.org/officeDocument/2006/relationships/image" Target="../media/image-25-19.png"/><Relationship Id="rId20" Type="http://schemas.openxmlformats.org/officeDocument/2006/relationships/image" Target="../media/image-25-20.png"/><Relationship Id="rId21" Type="http://schemas.openxmlformats.org/officeDocument/2006/relationships/image" Target="../media/image-25-21.png"/><Relationship Id="rId22" Type="http://schemas.openxmlformats.org/officeDocument/2006/relationships/image" Target="../media/image-25-22.png"/><Relationship Id="rId23" Type="http://schemas.openxmlformats.org/officeDocument/2006/relationships/image" Target="../media/image-25-23.png"/><Relationship Id="rId24" Type="http://schemas.openxmlformats.org/officeDocument/2006/relationships/image" Target="../media/image-25-24.png"/><Relationship Id="rId25" Type="http://schemas.openxmlformats.org/officeDocument/2006/relationships/image" Target="../media/image-25-25.png"/><Relationship Id="rId26" Type="http://schemas.openxmlformats.org/officeDocument/2006/relationships/image" Target="../media/image-25-26.png"/><Relationship Id="rId27" Type="http://schemas.openxmlformats.org/officeDocument/2006/relationships/image" Target="../media/image-25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056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71500" cy="57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876800"/>
            <a:ext cx="5181600" cy="571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5600" y="0"/>
            <a:ext cx="762000" cy="68580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62000" y="1047750"/>
            <a:ext cx="560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COMPUTING LECTURE SERIES</a:t>
            </a:r>
            <a:endParaRPr lang="en-US" sz="1050" dirty="0"/>
          </a:p>
        </p:txBody>
      </p:sp>
      <p:sp>
        <p:nvSpPr>
          <p:cNvPr id="9" name="Text 1"/>
          <p:cNvSpPr/>
          <p:nvPr/>
        </p:nvSpPr>
        <p:spPr>
          <a:xfrm>
            <a:off x="762000" y="1390650"/>
            <a:ext cx="51816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1: Foundations of</a:t>
            </a:r>
            <a:pPr indent="0" marL="0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Computing</a:t>
            </a:r>
            <a:endParaRPr lang="en-US" sz="4500" dirty="0"/>
          </a:p>
        </p:txBody>
      </p:sp>
      <p:sp>
        <p:nvSpPr>
          <p:cNvPr id="10" name="Text 2"/>
          <p:cNvSpPr/>
          <p:nvPr/>
        </p:nvSpPr>
        <p:spPr>
          <a:xfrm>
            <a:off x="990600" y="4876800"/>
            <a:ext cx="8023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Exploring the Third Paradigm of Science</a:t>
            </a:r>
            <a:endParaRPr lang="en-US" sz="1350" dirty="0"/>
          </a:p>
        </p:txBody>
      </p:sp>
      <p:sp>
        <p:nvSpPr>
          <p:cNvPr id="11" name="Text 3"/>
          <p:cNvSpPr/>
          <p:nvPr/>
        </p:nvSpPr>
        <p:spPr>
          <a:xfrm>
            <a:off x="990600" y="52197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Computational Thinking • Python Essentials • Reproducibility</a:t>
            </a:r>
            <a:endParaRPr lang="en-US" sz="1200" dirty="0"/>
          </a:p>
        </p:txBody>
      </p:sp>
      <p:sp>
        <p:nvSpPr>
          <p:cNvPr id="12" name="Text 4"/>
          <p:cNvSpPr/>
          <p:nvPr/>
        </p:nvSpPr>
        <p:spPr>
          <a:xfrm>
            <a:off x="762000" y="5905500"/>
            <a:ext cx="34137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Date: 2026-03-02</a:t>
            </a:r>
            <a:endParaRPr lang="en-US" sz="1050" dirty="0"/>
          </a:p>
        </p:txBody>
      </p:sp>
      <p:sp>
        <p:nvSpPr>
          <p:cNvPr id="13" name="Text 5"/>
          <p:cNvSpPr/>
          <p:nvPr/>
        </p:nvSpPr>
        <p:spPr>
          <a:xfrm>
            <a:off x="5286375" y="5905500"/>
            <a:ext cx="1813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Lecture 01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2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03" y="370703"/>
            <a:ext cx="11450514" cy="73525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03" y="1485948"/>
            <a:ext cx="254858" cy="22855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703" y="1909143"/>
            <a:ext cx="3652001" cy="157548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9568" y="2094494"/>
            <a:ext cx="494270" cy="49427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8582" y="2202616"/>
            <a:ext cx="216243" cy="27802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9839" y="1909143"/>
            <a:ext cx="3652121" cy="157548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8704" y="2094494"/>
            <a:ext cx="494270" cy="49427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8211" y="2202616"/>
            <a:ext cx="355257" cy="27802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69096" y="1909143"/>
            <a:ext cx="3652000" cy="1575486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47961" y="2094494"/>
            <a:ext cx="494270" cy="49427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52221" y="2202616"/>
            <a:ext cx="285750" cy="278027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0703" y="3802840"/>
            <a:ext cx="231689" cy="22855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0703" y="4882126"/>
            <a:ext cx="131291" cy="154459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0703" y="5172461"/>
            <a:ext cx="131291" cy="15446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0703" y="5462797"/>
            <a:ext cx="131291" cy="154459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50419" y="3920736"/>
            <a:ext cx="5570798" cy="1606378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97555" y="4847493"/>
            <a:ext cx="1609757" cy="432487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30879" y="4847493"/>
            <a:ext cx="1609758" cy="432487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70703" y="6085702"/>
            <a:ext cx="11450514" cy="401595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556054" y="370703"/>
            <a:ext cx="24359616" cy="4572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89" kern="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to Scientific Computing</a:t>
            </a:r>
            <a:endParaRPr lang="en-US" sz="3600" dirty="0"/>
          </a:p>
        </p:txBody>
      </p:sp>
      <p:sp>
        <p:nvSpPr>
          <p:cNvPr id="23" name="Text 1"/>
          <p:cNvSpPr/>
          <p:nvPr/>
        </p:nvSpPr>
        <p:spPr>
          <a:xfrm>
            <a:off x="556054" y="889711"/>
            <a:ext cx="11265162" cy="21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3"/>
              </a:lnSpc>
              <a:buNone/>
            </a:pPr>
            <a:r>
              <a:rPr lang="en-US" sz="1500" b="1" spc="74" kern="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 1: FOUNDATIONS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718236" y="1476657"/>
            <a:ext cx="11450514" cy="24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46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Integration</a:t>
            </a:r>
            <a:endParaRPr lang="en-US" sz="1800" dirty="0"/>
          </a:p>
        </p:txBody>
      </p:sp>
      <p:sp>
        <p:nvSpPr>
          <p:cNvPr id="25" name="Text 3"/>
          <p:cNvSpPr/>
          <p:nvPr/>
        </p:nvSpPr>
        <p:spPr>
          <a:xfrm>
            <a:off x="646031" y="2712332"/>
            <a:ext cx="3101344" cy="21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03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Mathematics</a:t>
            </a:r>
            <a:endParaRPr lang="en-US" sz="1500" dirty="0"/>
          </a:p>
        </p:txBody>
      </p:sp>
      <p:sp>
        <p:nvSpPr>
          <p:cNvPr id="26" name="Text 4"/>
          <p:cNvSpPr/>
          <p:nvPr/>
        </p:nvSpPr>
        <p:spPr>
          <a:xfrm>
            <a:off x="556054" y="2990359"/>
            <a:ext cx="3281298" cy="3089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Numerical analysis, algorithms, and differential equations.</a:t>
            </a:r>
            <a:endParaRPr lang="en-US" sz="1050" dirty="0"/>
          </a:p>
        </p:txBody>
      </p:sp>
      <p:sp>
        <p:nvSpPr>
          <p:cNvPr id="27" name="Text 5"/>
          <p:cNvSpPr/>
          <p:nvPr/>
        </p:nvSpPr>
        <p:spPr>
          <a:xfrm>
            <a:off x="3840316" y="2712332"/>
            <a:ext cx="4511046" cy="21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03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Computer Science</a:t>
            </a:r>
            <a:endParaRPr lang="en-US" sz="1500" dirty="0"/>
          </a:p>
        </p:txBody>
      </p:sp>
      <p:sp>
        <p:nvSpPr>
          <p:cNvPr id="28" name="Text 6"/>
          <p:cNvSpPr/>
          <p:nvPr/>
        </p:nvSpPr>
        <p:spPr>
          <a:xfrm>
            <a:off x="4455190" y="2990359"/>
            <a:ext cx="3281419" cy="3089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High-performance computing and software engineering.</a:t>
            </a:r>
            <a:endParaRPr lang="en-US" sz="1050" dirty="0"/>
          </a:p>
        </p:txBody>
      </p:sp>
      <p:sp>
        <p:nvSpPr>
          <p:cNvPr id="29" name="Text 7"/>
          <p:cNvSpPr/>
          <p:nvPr/>
        </p:nvSpPr>
        <p:spPr>
          <a:xfrm>
            <a:off x="8021513" y="2712332"/>
            <a:ext cx="3947165" cy="21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03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Domain Science</a:t>
            </a:r>
            <a:endParaRPr lang="en-US" sz="1500" dirty="0"/>
          </a:p>
        </p:txBody>
      </p:sp>
      <p:sp>
        <p:nvSpPr>
          <p:cNvPr id="30" name="Text 8"/>
          <p:cNvSpPr/>
          <p:nvPr/>
        </p:nvSpPr>
        <p:spPr>
          <a:xfrm>
            <a:off x="4962457" y="2990359"/>
            <a:ext cx="10065277" cy="15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Physics, biology, engineering, and climate science.</a:t>
            </a:r>
            <a:endParaRPr lang="en-US" sz="1050" dirty="0"/>
          </a:p>
        </p:txBody>
      </p:sp>
      <p:sp>
        <p:nvSpPr>
          <p:cNvPr id="31" name="Text 9"/>
          <p:cNvSpPr/>
          <p:nvPr/>
        </p:nvSpPr>
        <p:spPr>
          <a:xfrm>
            <a:off x="695068" y="3793548"/>
            <a:ext cx="9811512" cy="24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46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Third Paradigm of Science</a:t>
            </a:r>
            <a:endParaRPr lang="en-US" sz="1800" dirty="0"/>
          </a:p>
        </p:txBody>
      </p:sp>
      <p:sp>
        <p:nvSpPr>
          <p:cNvPr id="32" name="Text 10"/>
          <p:cNvSpPr/>
          <p:nvPr/>
        </p:nvSpPr>
        <p:spPr>
          <a:xfrm>
            <a:off x="370703" y="4164251"/>
            <a:ext cx="5570797" cy="557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Scientific computing complements traditional scientific inquiry by enabling researchers to explore systems that are:</a:t>
            </a:r>
            <a:endParaRPr lang="en-US" sz="1350" dirty="0"/>
          </a:p>
        </p:txBody>
      </p:sp>
      <p:sp>
        <p:nvSpPr>
          <p:cNvPr id="33" name="Text 11"/>
          <p:cNvSpPr/>
          <p:nvPr/>
        </p:nvSpPr>
        <p:spPr>
          <a:xfrm>
            <a:off x="594669" y="4845080"/>
            <a:ext cx="7894307" cy="22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costly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physical experiments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594669" y="5135415"/>
            <a:ext cx="7668755" cy="2285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dangerous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conduct in person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594669" y="5425750"/>
            <a:ext cx="8796513" cy="2285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Physically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impossible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study directly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6497555" y="4167871"/>
            <a:ext cx="5076527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46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"Computation has become a primary method of scientific discovery."</a:t>
            </a:r>
            <a:endParaRPr lang="en-US" sz="1800" dirty="0"/>
          </a:p>
        </p:txBody>
      </p:sp>
      <p:sp>
        <p:nvSpPr>
          <p:cNvPr id="37" name="Text 15"/>
          <p:cNvSpPr/>
          <p:nvPr/>
        </p:nvSpPr>
        <p:spPr>
          <a:xfrm>
            <a:off x="6559338" y="4847493"/>
            <a:ext cx="1486190" cy="2780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8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2250" dirty="0"/>
          </a:p>
        </p:txBody>
      </p:sp>
      <p:sp>
        <p:nvSpPr>
          <p:cNvPr id="38" name="Text 16"/>
          <p:cNvSpPr/>
          <p:nvPr/>
        </p:nvSpPr>
        <p:spPr>
          <a:xfrm>
            <a:off x="6559338" y="5156412"/>
            <a:ext cx="1486190" cy="12356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73"/>
              </a:lnSpc>
              <a:buNone/>
            </a:pPr>
            <a:r>
              <a:rPr lang="en-US" sz="900" spc="89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THEORY</a:t>
            </a:r>
            <a:endParaRPr lang="en-US" sz="900" dirty="0"/>
          </a:p>
        </p:txBody>
      </p:sp>
      <p:sp>
        <p:nvSpPr>
          <p:cNvPr id="39" name="Text 17"/>
          <p:cNvSpPr/>
          <p:nvPr/>
        </p:nvSpPr>
        <p:spPr>
          <a:xfrm>
            <a:off x="8292663" y="4847493"/>
            <a:ext cx="1486189" cy="2780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8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2250" dirty="0"/>
          </a:p>
        </p:txBody>
      </p:sp>
      <p:sp>
        <p:nvSpPr>
          <p:cNvPr id="40" name="Text 18"/>
          <p:cNvSpPr/>
          <p:nvPr/>
        </p:nvSpPr>
        <p:spPr>
          <a:xfrm>
            <a:off x="8189937" y="5156412"/>
            <a:ext cx="1691640" cy="12356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73"/>
              </a:lnSpc>
              <a:buNone/>
            </a:pPr>
            <a:r>
              <a:rPr lang="en-US" sz="900" spc="89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EXPERIMENT</a:t>
            </a:r>
            <a:endParaRPr lang="en-US" sz="900" dirty="0"/>
          </a:p>
        </p:txBody>
      </p:sp>
      <p:sp>
        <p:nvSpPr>
          <p:cNvPr id="41" name="Text 19"/>
          <p:cNvSpPr/>
          <p:nvPr/>
        </p:nvSpPr>
        <p:spPr>
          <a:xfrm>
            <a:off x="10025988" y="4847493"/>
            <a:ext cx="1486190" cy="2780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89"/>
              </a:lnSpc>
              <a:buNone/>
            </a:pPr>
            <a:r>
              <a:rPr lang="en-US" sz="2250" b="1" u="sng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2250" dirty="0"/>
          </a:p>
        </p:txBody>
      </p:sp>
      <p:sp>
        <p:nvSpPr>
          <p:cNvPr id="42" name="Text 20"/>
          <p:cNvSpPr/>
          <p:nvPr/>
        </p:nvSpPr>
        <p:spPr>
          <a:xfrm>
            <a:off x="9838681" y="5156412"/>
            <a:ext cx="1860804" cy="12356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73"/>
              </a:lnSpc>
              <a:buNone/>
            </a:pPr>
            <a:r>
              <a:rPr lang="en-US" sz="900" b="1" spc="89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COMPUTATION</a:t>
            </a:r>
            <a:endParaRPr lang="en-US" sz="900" dirty="0"/>
          </a:p>
        </p:txBody>
      </p:sp>
      <p:sp>
        <p:nvSpPr>
          <p:cNvPr id="43" name="Text 21"/>
          <p:cNvSpPr/>
          <p:nvPr/>
        </p:nvSpPr>
        <p:spPr>
          <a:xfrm>
            <a:off x="370703" y="6332838"/>
            <a:ext cx="9736347" cy="15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16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Foundations of Scientific Computing — Lecture 01</a:t>
            </a:r>
            <a:endParaRPr lang="en-US" sz="1050" dirty="0"/>
          </a:p>
        </p:txBody>
      </p:sp>
      <p:sp>
        <p:nvSpPr>
          <p:cNvPr id="44" name="Text 22"/>
          <p:cNvSpPr/>
          <p:nvPr/>
        </p:nvSpPr>
        <p:spPr>
          <a:xfrm>
            <a:off x="10284346" y="6332838"/>
            <a:ext cx="5591821" cy="15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16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 Date: 2026-03-02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2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342900"/>
            <a:ext cx="11506126" cy="71437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1343025"/>
            <a:ext cx="11506126" cy="15144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71625"/>
            <a:ext cx="207169" cy="228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3200400"/>
            <a:ext cx="3682938" cy="185000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" y="3371850"/>
            <a:ext cx="342900" cy="42851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3457575"/>
            <a:ext cx="171450" cy="228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4438" y="3200400"/>
            <a:ext cx="3682938" cy="185000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5888" y="3371850"/>
            <a:ext cx="400050" cy="428513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11613" y="3457575"/>
            <a:ext cx="228600" cy="228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65976" y="3200400"/>
            <a:ext cx="3682938" cy="185000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37426" y="3371850"/>
            <a:ext cx="457200" cy="428513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23151" y="3457575"/>
            <a:ext cx="285750" cy="2286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2900" y="5393308"/>
            <a:ext cx="11506126" cy="62865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514350" y="342900"/>
            <a:ext cx="2121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96" kern="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Defining Scientific Computing</a:t>
            </a:r>
            <a:endParaRPr lang="en-US" sz="3600" dirty="0"/>
          </a:p>
        </p:txBody>
      </p:sp>
      <p:sp>
        <p:nvSpPr>
          <p:cNvPr id="17" name="Text 1"/>
          <p:cNvSpPr/>
          <p:nvPr/>
        </p:nvSpPr>
        <p:spPr>
          <a:xfrm>
            <a:off x="514350" y="857250"/>
            <a:ext cx="113346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500" i="1" spc="160" kern="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DEFINITION &amp; COMPONENTS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864394" y="1571625"/>
            <a:ext cx="110489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Third Paradigm</a:t>
            </a:r>
            <a:endParaRPr lang="en-US" sz="1800" dirty="0"/>
          </a:p>
        </p:txBody>
      </p:sp>
      <p:sp>
        <p:nvSpPr>
          <p:cNvPr id="19" name="Text 3"/>
          <p:cNvSpPr/>
          <p:nvPr/>
        </p:nvSpPr>
        <p:spPr>
          <a:xfrm>
            <a:off x="571500" y="1885950"/>
            <a:ext cx="11048926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925"/>
              </a:lnSpc>
              <a:buNone/>
            </a:pPr>
            <a:r>
              <a:rPr lang="en-US" sz="1800" i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"The use of computational methods to solve scientific and engineering problems by combining </a:t>
            </a:r>
            <a:pPr indent="0" marL="0">
              <a:lnSpc>
                <a:spcPts val="2925"/>
              </a:lnSpc>
              <a:buNone/>
            </a:pPr>
            <a:r>
              <a:rPr lang="en-US" sz="1800" b="1" i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numerical analysis</a:t>
            </a:r>
            <a:pPr indent="0" marL="0">
              <a:lnSpc>
                <a:spcPts val="2925"/>
              </a:lnSpc>
              <a:buNone/>
            </a:pPr>
            <a:r>
              <a:rPr lang="en-US" sz="1800" i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indent="0" marL="0">
              <a:lnSpc>
                <a:spcPts val="2925"/>
              </a:lnSpc>
              <a:buNone/>
            </a:pPr>
            <a:r>
              <a:rPr lang="en-US" sz="1800" b="1" i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algorithms</a:t>
            </a:r>
            <a:pPr indent="0" marL="0">
              <a:lnSpc>
                <a:spcPts val="2925"/>
              </a:lnSpc>
              <a:buNone/>
            </a:pPr>
            <a:r>
              <a:rPr lang="en-US" sz="1800" i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</a:t>
            </a:r>
            <a:pPr indent="0" marL="0">
              <a:lnSpc>
                <a:spcPts val="2925"/>
              </a:lnSpc>
              <a:buNone/>
            </a:pPr>
            <a:r>
              <a:rPr lang="en-US" sz="1800" b="1" i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high-performance computing</a:t>
            </a:r>
            <a:pPr indent="0" marL="0">
              <a:lnSpc>
                <a:spcPts val="2925"/>
              </a:lnSpc>
              <a:buNone/>
            </a:pPr>
            <a:r>
              <a:rPr lang="en-US" sz="1800" i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."</a:t>
            </a:r>
            <a:endParaRPr lang="en-US" sz="1800" dirty="0"/>
          </a:p>
        </p:txBody>
      </p:sp>
      <p:sp>
        <p:nvSpPr>
          <p:cNvPr id="20" name="Text 4"/>
          <p:cNvSpPr/>
          <p:nvPr/>
        </p:nvSpPr>
        <p:spPr>
          <a:xfrm>
            <a:off x="514350" y="3914663"/>
            <a:ext cx="54864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Numerical Analysis</a:t>
            </a:r>
            <a:endParaRPr lang="en-US" sz="1500" dirty="0"/>
          </a:p>
        </p:txBody>
      </p:sp>
      <p:sp>
        <p:nvSpPr>
          <p:cNvPr id="21" name="Text 5"/>
          <p:cNvSpPr/>
          <p:nvPr/>
        </p:nvSpPr>
        <p:spPr>
          <a:xfrm>
            <a:off x="514350" y="4228988"/>
            <a:ext cx="3340038" cy="6499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Mathematical techniques for finding approximate solutions to continuous problems that cannot be solved analytically.</a:t>
            </a:r>
            <a:endParaRPr lang="en-US" sz="1050" dirty="0"/>
          </a:p>
        </p:txBody>
      </p:sp>
      <p:sp>
        <p:nvSpPr>
          <p:cNvPr id="22" name="Text 6"/>
          <p:cNvSpPr/>
          <p:nvPr/>
        </p:nvSpPr>
        <p:spPr>
          <a:xfrm>
            <a:off x="4425888" y="3914663"/>
            <a:ext cx="30480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Algorithms</a:t>
            </a:r>
            <a:endParaRPr lang="en-US" sz="1500" dirty="0"/>
          </a:p>
        </p:txBody>
      </p:sp>
      <p:sp>
        <p:nvSpPr>
          <p:cNvPr id="23" name="Text 7"/>
          <p:cNvSpPr/>
          <p:nvPr/>
        </p:nvSpPr>
        <p:spPr>
          <a:xfrm>
            <a:off x="4425888" y="4228988"/>
            <a:ext cx="3340038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Step-by-step procedures designed for efficient implementation on modern computing hardware.</a:t>
            </a:r>
            <a:endParaRPr lang="en-US" sz="1050" dirty="0"/>
          </a:p>
        </p:txBody>
      </p:sp>
      <p:sp>
        <p:nvSpPr>
          <p:cNvPr id="24" name="Text 8"/>
          <p:cNvSpPr/>
          <p:nvPr/>
        </p:nvSpPr>
        <p:spPr>
          <a:xfrm>
            <a:off x="8337426" y="3914663"/>
            <a:ext cx="30480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Simulation</a:t>
            </a:r>
            <a:endParaRPr lang="en-US" sz="1500" dirty="0"/>
          </a:p>
        </p:txBody>
      </p:sp>
      <p:sp>
        <p:nvSpPr>
          <p:cNvPr id="25" name="Text 9"/>
          <p:cNvSpPr/>
          <p:nvPr/>
        </p:nvSpPr>
        <p:spPr>
          <a:xfrm>
            <a:off x="8337426" y="4228988"/>
            <a:ext cx="3340038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Predicting real-world phenomena through data-driven models and large-scale computational experiments.</a:t>
            </a:r>
            <a:endParaRPr lang="en-US" sz="1050" dirty="0"/>
          </a:p>
        </p:txBody>
      </p:sp>
      <p:sp>
        <p:nvSpPr>
          <p:cNvPr id="26" name="Text 10"/>
          <p:cNvSpPr/>
          <p:nvPr/>
        </p:nvSpPr>
        <p:spPr>
          <a:xfrm>
            <a:off x="1229506" y="5564758"/>
            <a:ext cx="23774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2700" b="1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01.</a:t>
            </a:r>
            <a:endParaRPr lang="en-US" sz="2700" dirty="0"/>
          </a:p>
        </p:txBody>
      </p:sp>
      <p:sp>
        <p:nvSpPr>
          <p:cNvPr id="27" name="Text 11"/>
          <p:cNvSpPr/>
          <p:nvPr/>
        </p:nvSpPr>
        <p:spPr>
          <a:xfrm>
            <a:off x="1822438" y="5593333"/>
            <a:ext cx="1950717" cy="22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spc="64" kern="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SIMULATE</a:t>
            </a:r>
            <a:endParaRPr lang="en-US" sz="1200" dirty="0"/>
          </a:p>
        </p:txBody>
      </p:sp>
      <p:sp>
        <p:nvSpPr>
          <p:cNvPr id="28" name="Text 12"/>
          <p:cNvSpPr/>
          <p:nvPr/>
        </p:nvSpPr>
        <p:spPr>
          <a:xfrm>
            <a:off x="5501580" y="5564758"/>
            <a:ext cx="23774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2700" b="1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02.</a:t>
            </a:r>
            <a:endParaRPr lang="en-US" sz="2700" dirty="0"/>
          </a:p>
        </p:txBody>
      </p:sp>
      <p:sp>
        <p:nvSpPr>
          <p:cNvPr id="29" name="Text 13"/>
          <p:cNvSpPr/>
          <p:nvPr/>
        </p:nvSpPr>
        <p:spPr>
          <a:xfrm>
            <a:off x="6094512" y="5593333"/>
            <a:ext cx="1706877" cy="22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spc="64" kern="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</a:t>
            </a:r>
            <a:endParaRPr lang="en-US" sz="1200" dirty="0"/>
          </a:p>
        </p:txBody>
      </p:sp>
      <p:sp>
        <p:nvSpPr>
          <p:cNvPr id="30" name="Text 14"/>
          <p:cNvSpPr/>
          <p:nvPr/>
        </p:nvSpPr>
        <p:spPr>
          <a:xfrm>
            <a:off x="9687371" y="5564758"/>
            <a:ext cx="23774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2700" b="1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03.</a:t>
            </a:r>
            <a:endParaRPr lang="en-US" sz="2700" dirty="0"/>
          </a:p>
        </p:txBody>
      </p:sp>
      <p:sp>
        <p:nvSpPr>
          <p:cNvPr id="31" name="Text 15"/>
          <p:cNvSpPr/>
          <p:nvPr/>
        </p:nvSpPr>
        <p:spPr>
          <a:xfrm>
            <a:off x="10280303" y="5593333"/>
            <a:ext cx="1706877" cy="22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spc="64" kern="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</a:t>
            </a:r>
            <a:endParaRPr lang="en-US" sz="1200" dirty="0"/>
          </a:p>
        </p:txBody>
      </p:sp>
      <p:sp>
        <p:nvSpPr>
          <p:cNvPr id="32" name="Text 16"/>
          <p:cNvSpPr/>
          <p:nvPr/>
        </p:nvSpPr>
        <p:spPr>
          <a:xfrm>
            <a:off x="342900" y="6400800"/>
            <a:ext cx="49377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Slide 03 — Week 1 Lecture</a:t>
            </a:r>
            <a:endParaRPr lang="en-US" sz="900" dirty="0"/>
          </a:p>
        </p:txBody>
      </p:sp>
      <p:sp>
        <p:nvSpPr>
          <p:cNvPr id="33" name="Text 17"/>
          <p:cNvSpPr/>
          <p:nvPr/>
        </p:nvSpPr>
        <p:spPr>
          <a:xfrm>
            <a:off x="9448279" y="6400800"/>
            <a:ext cx="6400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Foundations of Scientific Computing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3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83" y="483383"/>
            <a:ext cx="1047252" cy="18126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83" y="1544797"/>
            <a:ext cx="3580529" cy="380263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075" y="1786488"/>
            <a:ext cx="430513" cy="30211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075" y="3401149"/>
            <a:ext cx="60423" cy="9063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075" y="3642840"/>
            <a:ext cx="60423" cy="9063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075" y="3884532"/>
            <a:ext cx="60423" cy="9063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5604" y="1544797"/>
            <a:ext cx="3580647" cy="380263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7296" y="1786488"/>
            <a:ext cx="339879" cy="30211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47296" y="3153674"/>
            <a:ext cx="60423" cy="9063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47296" y="3395366"/>
            <a:ext cx="60423" cy="90634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47296" y="3637058"/>
            <a:ext cx="60423" cy="90634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7943" y="1544797"/>
            <a:ext cx="3580530" cy="380263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69634" y="1786488"/>
            <a:ext cx="339879" cy="30211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69634" y="3123463"/>
            <a:ext cx="113293" cy="133237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69634" y="3377546"/>
            <a:ext cx="113293" cy="133237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69634" y="3631629"/>
            <a:ext cx="113293" cy="133237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3383" y="5709965"/>
            <a:ext cx="11225207" cy="664652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574018" y="483383"/>
            <a:ext cx="1487376" cy="18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52"/>
              </a:lnSpc>
              <a:buNone/>
            </a:pPr>
            <a:r>
              <a:rPr lang="en-US" sz="900" b="1" spc="91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DISTINCTION</a:t>
            </a:r>
            <a:endParaRPr lang="en-US" sz="900" dirty="0"/>
          </a:p>
        </p:txBody>
      </p:sp>
      <p:sp>
        <p:nvSpPr>
          <p:cNvPr id="21" name="Text 1"/>
          <p:cNvSpPr/>
          <p:nvPr/>
        </p:nvSpPr>
        <p:spPr>
          <a:xfrm>
            <a:off x="483383" y="725075"/>
            <a:ext cx="26983929" cy="4571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91" kern="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Computing vs. Related Fields</a:t>
            </a:r>
            <a:endParaRPr lang="en-US" sz="3600" dirty="0"/>
          </a:p>
        </p:txBody>
      </p:sp>
      <p:sp>
        <p:nvSpPr>
          <p:cNvPr id="22" name="Text 2"/>
          <p:cNvSpPr/>
          <p:nvPr/>
        </p:nvSpPr>
        <p:spPr>
          <a:xfrm>
            <a:off x="725075" y="2301971"/>
            <a:ext cx="5535174" cy="24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3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Science</a:t>
            </a:r>
            <a:endParaRPr lang="en-US" sz="1800" dirty="0"/>
          </a:p>
        </p:txBody>
      </p:sp>
      <p:sp>
        <p:nvSpPr>
          <p:cNvPr id="23" name="Text 3"/>
          <p:cNvSpPr/>
          <p:nvPr/>
        </p:nvSpPr>
        <p:spPr>
          <a:xfrm>
            <a:off x="725075" y="2664509"/>
            <a:ext cx="3097146" cy="4949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Focuses on the 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infrastructure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computing.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845921" y="3340726"/>
            <a:ext cx="4439677" cy="15105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Software System Design</a:t>
            </a:r>
            <a:endParaRPr lang="en-US" sz="1050" dirty="0"/>
          </a:p>
        </p:txBody>
      </p:sp>
      <p:sp>
        <p:nvSpPr>
          <p:cNvPr id="25" name="Text 5"/>
          <p:cNvSpPr/>
          <p:nvPr/>
        </p:nvSpPr>
        <p:spPr>
          <a:xfrm>
            <a:off x="845921" y="3582417"/>
            <a:ext cx="4439677" cy="15105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Algorithm Optimization</a:t>
            </a:r>
            <a:endParaRPr lang="en-US" sz="1050" dirty="0"/>
          </a:p>
        </p:txBody>
      </p:sp>
      <p:sp>
        <p:nvSpPr>
          <p:cNvPr id="26" name="Text 6"/>
          <p:cNvSpPr/>
          <p:nvPr/>
        </p:nvSpPr>
        <p:spPr>
          <a:xfrm>
            <a:off x="845921" y="3824109"/>
            <a:ext cx="4439677" cy="15105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Computing Architecture</a:t>
            </a:r>
            <a:endParaRPr lang="en-US" sz="1050" dirty="0"/>
          </a:p>
        </p:txBody>
      </p:sp>
      <p:sp>
        <p:nvSpPr>
          <p:cNvPr id="27" name="Text 7"/>
          <p:cNvSpPr/>
          <p:nvPr/>
        </p:nvSpPr>
        <p:spPr>
          <a:xfrm>
            <a:off x="4547296" y="2301971"/>
            <a:ext cx="4151381" cy="24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3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Science</a:t>
            </a:r>
            <a:endParaRPr lang="en-US" sz="1800" dirty="0"/>
          </a:p>
        </p:txBody>
      </p:sp>
      <p:sp>
        <p:nvSpPr>
          <p:cNvPr id="28" name="Text 8"/>
          <p:cNvSpPr/>
          <p:nvPr/>
        </p:nvSpPr>
        <p:spPr>
          <a:xfrm>
            <a:off x="4547296" y="2664509"/>
            <a:ext cx="9455922" cy="2474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Focuses on 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extracting insights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 data.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4668142" y="3093252"/>
            <a:ext cx="4237874" cy="15105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Statistical Inference</a:t>
            </a:r>
            <a:endParaRPr lang="en-US" sz="1050" dirty="0"/>
          </a:p>
        </p:txBody>
      </p:sp>
      <p:sp>
        <p:nvSpPr>
          <p:cNvPr id="30" name="Text 10"/>
          <p:cNvSpPr/>
          <p:nvPr/>
        </p:nvSpPr>
        <p:spPr>
          <a:xfrm>
            <a:off x="4668142" y="3334943"/>
            <a:ext cx="3228856" cy="15105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31" name="Text 11"/>
          <p:cNvSpPr/>
          <p:nvPr/>
        </p:nvSpPr>
        <p:spPr>
          <a:xfrm>
            <a:off x="4668142" y="3576635"/>
            <a:ext cx="4237874" cy="15105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Pattern Visualization</a:t>
            </a:r>
            <a:endParaRPr lang="en-US" sz="1050" dirty="0"/>
          </a:p>
        </p:txBody>
      </p:sp>
      <p:sp>
        <p:nvSpPr>
          <p:cNvPr id="32" name="Text 12"/>
          <p:cNvSpPr/>
          <p:nvPr/>
        </p:nvSpPr>
        <p:spPr>
          <a:xfrm>
            <a:off x="8369634" y="2301971"/>
            <a:ext cx="6918968" cy="24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3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Computing</a:t>
            </a:r>
            <a:endParaRPr lang="en-US" sz="1800" dirty="0"/>
          </a:p>
        </p:txBody>
      </p:sp>
      <p:sp>
        <p:nvSpPr>
          <p:cNvPr id="33" name="Text 13"/>
          <p:cNvSpPr/>
          <p:nvPr/>
        </p:nvSpPr>
        <p:spPr>
          <a:xfrm>
            <a:off x="8369634" y="2664509"/>
            <a:ext cx="8994658" cy="2474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Focuses on 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modeling physical processes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8543351" y="3093252"/>
            <a:ext cx="4439677" cy="1634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Differential Equations</a:t>
            </a:r>
            <a:endParaRPr lang="en-US" sz="1050" dirty="0"/>
          </a:p>
        </p:txBody>
      </p:sp>
      <p:sp>
        <p:nvSpPr>
          <p:cNvPr id="35" name="Text 15"/>
          <p:cNvSpPr/>
          <p:nvPr/>
        </p:nvSpPr>
        <p:spPr>
          <a:xfrm>
            <a:off x="8543351" y="3347335"/>
            <a:ext cx="3632463" cy="1634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Simulations</a:t>
            </a:r>
            <a:endParaRPr lang="en-US" sz="1050" dirty="0"/>
          </a:p>
        </p:txBody>
      </p:sp>
      <p:sp>
        <p:nvSpPr>
          <p:cNvPr id="36" name="Text 16"/>
          <p:cNvSpPr/>
          <p:nvPr/>
        </p:nvSpPr>
        <p:spPr>
          <a:xfrm>
            <a:off x="8543351" y="3601418"/>
            <a:ext cx="4036070" cy="1634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Numerical Techniques</a:t>
            </a:r>
            <a:endParaRPr lang="en-US" sz="1050" dirty="0"/>
          </a:p>
        </p:txBody>
      </p:sp>
      <p:sp>
        <p:nvSpPr>
          <p:cNvPr id="37" name="Text 17"/>
          <p:cNvSpPr/>
          <p:nvPr/>
        </p:nvSpPr>
        <p:spPr>
          <a:xfrm>
            <a:off x="8430058" y="4922579"/>
            <a:ext cx="1385662" cy="1888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spc="-38" kern="0" dirty="0">
                <a:solidFill>
                  <a:srgbClr val="27AE60"/>
                </a:solidFill>
                <a:highlight>
                  <a:srgbClr val="F0FDF4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COURSE FOCUS</a:t>
            </a:r>
            <a:endParaRPr lang="en-US" sz="750" dirty="0"/>
          </a:p>
        </p:txBody>
      </p:sp>
      <p:sp>
        <p:nvSpPr>
          <p:cNvPr id="38" name="Text 18"/>
          <p:cNvSpPr/>
          <p:nvPr/>
        </p:nvSpPr>
        <p:spPr>
          <a:xfrm>
            <a:off x="664652" y="5906339"/>
            <a:ext cx="8216258" cy="27190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41"/>
              </a:lnSpc>
              <a:buNone/>
            </a:pPr>
            <a:r>
              <a:rPr lang="en-US" sz="2250" b="1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Distinction</a:t>
            </a:r>
            <a:endParaRPr lang="en-US" sz="2250" dirty="0"/>
          </a:p>
        </p:txBody>
      </p:sp>
      <p:sp>
        <p:nvSpPr>
          <p:cNvPr id="39" name="Text 19"/>
          <p:cNvSpPr/>
          <p:nvPr/>
        </p:nvSpPr>
        <p:spPr>
          <a:xfrm>
            <a:off x="3700903" y="5891233"/>
            <a:ext cx="5075524" cy="3021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89"/>
              </a:lnSpc>
              <a:buNone/>
            </a:pPr>
            <a:r>
              <a:rPr lang="en-US" sz="1050" i="1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While CS builds the tools and Data Science analyzes the results, Scientific Computing simulates the underlying physical reality through numerical methods.</a:t>
            </a:r>
            <a:endParaRPr lang="en-US" sz="1050" dirty="0"/>
          </a:p>
        </p:txBody>
      </p:sp>
      <p:sp>
        <p:nvSpPr>
          <p:cNvPr id="40" name="Text 20"/>
          <p:cNvSpPr/>
          <p:nvPr/>
        </p:nvSpPr>
        <p:spPr>
          <a:xfrm>
            <a:off x="10704650" y="5981867"/>
            <a:ext cx="2306315" cy="1208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52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REF: DOC 2.2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960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1277600" cy="800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38300"/>
            <a:ext cx="5448300" cy="1524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94310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2076450"/>
            <a:ext cx="361950" cy="342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1638300"/>
            <a:ext cx="5448300" cy="1524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1300" y="1943100"/>
            <a:ext cx="609600" cy="609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2275" y="2076450"/>
            <a:ext cx="247650" cy="3429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543300"/>
            <a:ext cx="5448300" cy="17716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848100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925" y="3981450"/>
            <a:ext cx="285750" cy="3429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0" y="3543300"/>
            <a:ext cx="5448300" cy="17716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1300" y="3848100"/>
            <a:ext cx="609600" cy="6096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15125" y="3981450"/>
            <a:ext cx="361950" cy="3429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5619750"/>
            <a:ext cx="11277600" cy="4191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48975" y="5867400"/>
            <a:ext cx="104775" cy="1524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685800" y="457200"/>
            <a:ext cx="1104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Applications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685800" y="990600"/>
            <a:ext cx="1104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spc="120" kern="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SCIENTIFIC COMPUTING IN ACTION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1600200" y="1943100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Climate Modeling</a:t>
            </a:r>
            <a:endParaRPr lang="en-US" sz="1800" dirty="0"/>
          </a:p>
        </p:txBody>
      </p:sp>
      <p:sp>
        <p:nvSpPr>
          <p:cNvPr id="21" name="Text 3"/>
          <p:cNvSpPr/>
          <p:nvPr/>
        </p:nvSpPr>
        <p:spPr>
          <a:xfrm>
            <a:off x="1600200" y="2362200"/>
            <a:ext cx="4000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Simulating atmospheric and oceanic systems to predict long-term climate change and weather patterns.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7429500" y="1943100"/>
            <a:ext cx="4937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Molecular Dynamics</a:t>
            </a:r>
            <a:endParaRPr lang="en-US" sz="1800" dirty="0"/>
          </a:p>
        </p:txBody>
      </p:sp>
      <p:sp>
        <p:nvSpPr>
          <p:cNvPr id="23" name="Text 5"/>
          <p:cNvSpPr/>
          <p:nvPr/>
        </p:nvSpPr>
        <p:spPr>
          <a:xfrm>
            <a:off x="7429500" y="2362200"/>
            <a:ext cx="4000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Modeling atomic-scale interactions to understand protein folding, material properties, and drug efficacy.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1600200" y="3848100"/>
            <a:ext cx="5760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Aerospace Engineering</a:t>
            </a:r>
            <a:endParaRPr lang="en-US" sz="1800" dirty="0"/>
          </a:p>
        </p:txBody>
      </p:sp>
      <p:sp>
        <p:nvSpPr>
          <p:cNvPr id="25" name="Text 7"/>
          <p:cNvSpPr/>
          <p:nvPr/>
        </p:nvSpPr>
        <p:spPr>
          <a:xfrm>
            <a:off x="1600200" y="4267200"/>
            <a:ext cx="4000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Simulating airflow over wings using Navier-Stokes equations, reducing the need for costly wind tunnel testing.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7429500" y="3848100"/>
            <a:ext cx="411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Systems Biology</a:t>
            </a:r>
            <a:endParaRPr lang="en-US" sz="1800" dirty="0"/>
          </a:p>
        </p:txBody>
      </p:sp>
      <p:sp>
        <p:nvSpPr>
          <p:cNvPr id="27" name="Text 9"/>
          <p:cNvSpPr/>
          <p:nvPr/>
        </p:nvSpPr>
        <p:spPr>
          <a:xfrm>
            <a:off x="7429500" y="4267200"/>
            <a:ext cx="4000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Modeling gene regulatory networks and metabolic pathways to predict complex cellular behaviors.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457200" y="584835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 01</a:t>
            </a:r>
            <a:endParaRPr lang="en-US" sz="1050" dirty="0"/>
          </a:p>
        </p:txBody>
      </p:sp>
      <p:sp>
        <p:nvSpPr>
          <p:cNvPr id="29" name="Text 11"/>
          <p:cNvSpPr/>
          <p:nvPr/>
        </p:nvSpPr>
        <p:spPr>
          <a:xfrm>
            <a:off x="1152525" y="5848350"/>
            <a:ext cx="52806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Scientific Computing Fundamentals</a:t>
            </a:r>
            <a:endParaRPr lang="en-US" sz="1050" dirty="0"/>
          </a:p>
        </p:txBody>
      </p:sp>
      <p:sp>
        <p:nvSpPr>
          <p:cNvPr id="30" name="Text 12"/>
          <p:cNvSpPr/>
          <p:nvPr/>
        </p:nvSpPr>
        <p:spPr>
          <a:xfrm>
            <a:off x="11029950" y="5848350"/>
            <a:ext cx="2453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2026-03-02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34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03" y="552941"/>
            <a:ext cx="368627" cy="3071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03" y="1532346"/>
            <a:ext cx="3572395" cy="180497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895" y="2004290"/>
            <a:ext cx="199673" cy="22847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9649" y="1532346"/>
            <a:ext cx="3572515" cy="180497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0041" y="2004290"/>
            <a:ext cx="253431" cy="228472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8606" y="1487222"/>
            <a:ext cx="3751015" cy="189522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0518" y="1982763"/>
            <a:ext cx="241911" cy="23989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503" y="3767388"/>
            <a:ext cx="5420091" cy="27647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503" y="4258891"/>
            <a:ext cx="153595" cy="15359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6062" y="4288050"/>
            <a:ext cx="84477" cy="95156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1503" y="4610359"/>
            <a:ext cx="153595" cy="15359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6062" y="4639518"/>
            <a:ext cx="84477" cy="95157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1503" y="4961826"/>
            <a:ext cx="153595" cy="15359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6062" y="4990985"/>
            <a:ext cx="84477" cy="95156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0220" y="3767388"/>
            <a:ext cx="5420211" cy="184793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25972" y="4013140"/>
            <a:ext cx="4928587" cy="27647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983006" y="491503"/>
            <a:ext cx="4432483" cy="15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9"/>
              </a:lnSpc>
              <a:buNone/>
            </a:pPr>
            <a:r>
              <a:rPr lang="en-US" sz="1050" b="1" spc="104" kern="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SECTION 2.4 EVOLUTION</a:t>
            </a:r>
            <a:endParaRPr lang="en-US" sz="1050" dirty="0"/>
          </a:p>
        </p:txBody>
      </p:sp>
      <p:sp>
        <p:nvSpPr>
          <p:cNvPr id="20" name="Text 1"/>
          <p:cNvSpPr/>
          <p:nvPr/>
        </p:nvSpPr>
        <p:spPr>
          <a:xfrm>
            <a:off x="491503" y="706535"/>
            <a:ext cx="25177228" cy="4571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Evolution of Scientific Paradigms</a:t>
            </a:r>
            <a:endParaRPr lang="en-US" sz="3600" dirty="0"/>
          </a:p>
        </p:txBody>
      </p:sp>
      <p:sp>
        <p:nvSpPr>
          <p:cNvPr id="21" name="Text 2"/>
          <p:cNvSpPr/>
          <p:nvPr/>
        </p:nvSpPr>
        <p:spPr>
          <a:xfrm>
            <a:off x="721895" y="1762738"/>
            <a:ext cx="3111611" cy="1714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89" kern="0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PARADIGM 01</a:t>
            </a:r>
            <a:endParaRPr lang="en-US" sz="900" dirty="0"/>
          </a:p>
        </p:txBody>
      </p:sp>
      <p:sp>
        <p:nvSpPr>
          <p:cNvPr id="22" name="Text 3"/>
          <p:cNvSpPr/>
          <p:nvPr/>
        </p:nvSpPr>
        <p:spPr>
          <a:xfrm>
            <a:off x="1013725" y="1995650"/>
            <a:ext cx="3402334" cy="24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</a:t>
            </a:r>
            <a:endParaRPr lang="en-US" sz="1800" dirty="0"/>
          </a:p>
        </p:txBody>
      </p:sp>
      <p:sp>
        <p:nvSpPr>
          <p:cNvPr id="23" name="Text 4"/>
          <p:cNvSpPr/>
          <p:nvPr/>
        </p:nvSpPr>
        <p:spPr>
          <a:xfrm>
            <a:off x="721895" y="2364277"/>
            <a:ext cx="3111611" cy="7426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 observation and empirical recording of natural phenomena through physical testing.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4540041" y="1762738"/>
            <a:ext cx="3111731" cy="1714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89" kern="0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PARADIGM 02</a:t>
            </a:r>
            <a:endParaRPr lang="en-US" sz="900" dirty="0"/>
          </a:p>
        </p:txBody>
      </p:sp>
      <p:sp>
        <p:nvSpPr>
          <p:cNvPr id="25" name="Text 6"/>
          <p:cNvSpPr/>
          <p:nvPr/>
        </p:nvSpPr>
        <p:spPr>
          <a:xfrm>
            <a:off x="4885629" y="1995650"/>
            <a:ext cx="3111731" cy="24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Theory</a:t>
            </a:r>
            <a:endParaRPr lang="en-US" sz="1800" dirty="0"/>
          </a:p>
        </p:txBody>
      </p:sp>
      <p:sp>
        <p:nvSpPr>
          <p:cNvPr id="26" name="Text 7"/>
          <p:cNvSpPr/>
          <p:nvPr/>
        </p:nvSpPr>
        <p:spPr>
          <a:xfrm>
            <a:off x="4540041" y="2364277"/>
            <a:ext cx="3111731" cy="49510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Mathematical models and analytical laws derived to explain and predict observations.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8280518" y="1729134"/>
            <a:ext cx="3267191" cy="18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18"/>
              </a:lnSpc>
              <a:buNone/>
            </a:pPr>
            <a:r>
              <a:rPr lang="en-US" sz="945" b="1" spc="89" kern="0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PARADIGM 03</a:t>
            </a:r>
            <a:endParaRPr lang="en-US" sz="945" dirty="0"/>
          </a:p>
        </p:txBody>
      </p:sp>
      <p:sp>
        <p:nvSpPr>
          <p:cNvPr id="28" name="Text 9"/>
          <p:cNvSpPr/>
          <p:nvPr/>
        </p:nvSpPr>
        <p:spPr>
          <a:xfrm>
            <a:off x="8619194" y="1973691"/>
            <a:ext cx="3742567" cy="25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32"/>
              </a:lnSpc>
              <a:buNone/>
            </a:pPr>
            <a:r>
              <a:rPr lang="en-US" sz="189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Computation</a:t>
            </a:r>
            <a:endParaRPr lang="en-US" sz="1890" dirty="0"/>
          </a:p>
        </p:txBody>
      </p:sp>
      <p:sp>
        <p:nvSpPr>
          <p:cNvPr id="29" name="Text 10"/>
          <p:cNvSpPr/>
          <p:nvPr/>
        </p:nvSpPr>
        <p:spPr>
          <a:xfrm>
            <a:off x="8280518" y="2360749"/>
            <a:ext cx="3267191" cy="7797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47"/>
              </a:lnSpc>
              <a:buNone/>
            </a:pPr>
            <a:r>
              <a:rPr lang="en-US" sz="126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Simulations and data-driven insights enabling discovery where theory and experiment are limited.</a:t>
            </a:r>
            <a:endParaRPr lang="en-US" sz="1260" dirty="0"/>
          </a:p>
        </p:txBody>
      </p:sp>
      <p:sp>
        <p:nvSpPr>
          <p:cNvPr id="30" name="Text 11"/>
          <p:cNvSpPr/>
          <p:nvPr/>
        </p:nvSpPr>
        <p:spPr>
          <a:xfrm>
            <a:off x="491503" y="3767388"/>
            <a:ext cx="7938784" cy="2764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93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 of the Third Paradigm</a:t>
            </a:r>
            <a:endParaRPr lang="en-US" sz="1500" dirty="0"/>
          </a:p>
        </p:txBody>
      </p:sp>
      <p:sp>
        <p:nvSpPr>
          <p:cNvPr id="31" name="Text 12"/>
          <p:cNvSpPr/>
          <p:nvPr/>
        </p:nvSpPr>
        <p:spPr>
          <a:xfrm>
            <a:off x="767973" y="4228172"/>
            <a:ext cx="14743397" cy="22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Reach: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Explore systems beyond physical reach (e.g., black holes).</a:t>
            </a:r>
            <a:endParaRPr lang="en-US" sz="1200" dirty="0"/>
          </a:p>
        </p:txBody>
      </p:sp>
      <p:sp>
        <p:nvSpPr>
          <p:cNvPr id="32" name="Text 13"/>
          <p:cNvSpPr/>
          <p:nvPr/>
        </p:nvSpPr>
        <p:spPr>
          <a:xfrm>
            <a:off x="767973" y="4579640"/>
            <a:ext cx="14743397" cy="22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Validation: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Rapidly test and validate complex theoretical models.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767973" y="4931108"/>
            <a:ext cx="16104326" cy="22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Innovation: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Accelerate discovery by testing hypotheses computationally.</a:t>
            </a:r>
            <a:endParaRPr lang="en-US" sz="1200" dirty="0"/>
          </a:p>
        </p:txBody>
      </p:sp>
      <p:sp>
        <p:nvSpPr>
          <p:cNvPr id="34" name="Text 15"/>
          <p:cNvSpPr/>
          <p:nvPr/>
        </p:nvSpPr>
        <p:spPr>
          <a:xfrm>
            <a:off x="6525972" y="4412486"/>
            <a:ext cx="4928708" cy="61917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37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"Computation has become a primary method of scientific discovery."</a:t>
            </a:r>
            <a:endParaRPr lang="en-US" sz="1500" dirty="0"/>
          </a:p>
        </p:txBody>
      </p:sp>
      <p:sp>
        <p:nvSpPr>
          <p:cNvPr id="35" name="Text 16"/>
          <p:cNvSpPr/>
          <p:nvPr/>
        </p:nvSpPr>
        <p:spPr>
          <a:xfrm>
            <a:off x="9250837" y="5215978"/>
            <a:ext cx="5954081" cy="15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9"/>
              </a:lnSpc>
              <a:buNone/>
            </a:pPr>
            <a:r>
              <a:rPr lang="en-US" sz="1050" b="1" spc="-52" kern="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KENNETH WILSON, NOBEL LAUREATE</a:t>
            </a:r>
            <a:endParaRPr lang="en-US" sz="1050" dirty="0"/>
          </a:p>
        </p:txBody>
      </p:sp>
      <p:sp>
        <p:nvSpPr>
          <p:cNvPr id="36" name="Text 17"/>
          <p:cNvSpPr/>
          <p:nvPr/>
        </p:nvSpPr>
        <p:spPr>
          <a:xfrm>
            <a:off x="491503" y="6243622"/>
            <a:ext cx="7428404" cy="12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68"/>
              </a:lnSpc>
              <a:buNone/>
            </a:pPr>
            <a:r>
              <a:rPr lang="en-US" sz="900" spc="22" kern="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 1: FOUNDATIONS OF SCIENTIFIC COMPUTING</a:t>
            </a:r>
            <a:endParaRPr lang="en-US" sz="900" dirty="0"/>
          </a:p>
        </p:txBody>
      </p:sp>
      <p:sp>
        <p:nvSpPr>
          <p:cNvPr id="37" name="Text 18"/>
          <p:cNvSpPr/>
          <p:nvPr/>
        </p:nvSpPr>
        <p:spPr>
          <a:xfrm>
            <a:off x="9424110" y="6243622"/>
            <a:ext cx="7031466" cy="12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68"/>
              </a:lnSpc>
              <a:buNone/>
            </a:pPr>
            <a:r>
              <a:rPr lang="en-US" sz="900" spc="22" kern="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PARADIGM SHIFT ANALYSIS • 2026-03-02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45" y="364545"/>
            <a:ext cx="11462870" cy="73063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545" y="1581237"/>
            <a:ext cx="2146685" cy="259833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7" y="1763509"/>
            <a:ext cx="243030" cy="24303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817" y="2128054"/>
            <a:ext cx="1782021" cy="30378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3502" y="1581237"/>
            <a:ext cx="2146804" cy="2598332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5775" y="1763509"/>
            <a:ext cx="243030" cy="24303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5775" y="2128054"/>
            <a:ext cx="1782259" cy="30378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2578" y="1581237"/>
            <a:ext cx="2146685" cy="259833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4851" y="1763509"/>
            <a:ext cx="243030" cy="24303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04851" y="2128054"/>
            <a:ext cx="1782021" cy="303787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51536" y="1581237"/>
            <a:ext cx="2146804" cy="2598332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33808" y="1763509"/>
            <a:ext cx="243030" cy="24303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33808" y="2128054"/>
            <a:ext cx="1782259" cy="303787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80612" y="1581237"/>
            <a:ext cx="2146685" cy="2598332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62884" y="1763509"/>
            <a:ext cx="243031" cy="24303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62884" y="2128054"/>
            <a:ext cx="1782021" cy="303787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4545" y="4665628"/>
            <a:ext cx="11462870" cy="104332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7575" y="5015814"/>
            <a:ext cx="303787" cy="342829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4545" y="6098531"/>
            <a:ext cx="11462870" cy="394924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546817" y="364545"/>
            <a:ext cx="25459182" cy="4572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90" kern="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Phases of Computational Thinking</a:t>
            </a:r>
            <a:endParaRPr lang="en-US" sz="3600" dirty="0"/>
          </a:p>
        </p:txBody>
      </p:sp>
      <p:sp>
        <p:nvSpPr>
          <p:cNvPr id="23" name="Text 1"/>
          <p:cNvSpPr/>
          <p:nvPr/>
        </p:nvSpPr>
        <p:spPr>
          <a:xfrm>
            <a:off x="546817" y="882526"/>
            <a:ext cx="1128059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74"/>
              </a:lnSpc>
              <a:buNone/>
            </a:pPr>
            <a:r>
              <a:rPr lang="en-US" sz="1500" b="1" spc="38" kern="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SYSTEMATIC PROBLEM-SOLVING FRAMEWORK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630359" y="1763509"/>
            <a:ext cx="334486" cy="243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3"/>
          <p:cNvSpPr/>
          <p:nvPr/>
        </p:nvSpPr>
        <p:spPr>
          <a:xfrm>
            <a:off x="546817" y="2614114"/>
            <a:ext cx="3727128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74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Decomposition</a:t>
            </a:r>
            <a:endParaRPr lang="en-US" sz="1500" dirty="0"/>
          </a:p>
        </p:txBody>
      </p:sp>
      <p:sp>
        <p:nvSpPr>
          <p:cNvPr id="26" name="Text 4"/>
          <p:cNvSpPr/>
          <p:nvPr/>
        </p:nvSpPr>
        <p:spPr>
          <a:xfrm>
            <a:off x="546817" y="2917902"/>
            <a:ext cx="1782140" cy="8667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Breaking down large, complex problems into smaller, manageable subproblems.</a:t>
            </a:r>
            <a:endParaRPr lang="en-US" sz="1050" dirty="0"/>
          </a:p>
        </p:txBody>
      </p:sp>
      <p:sp>
        <p:nvSpPr>
          <p:cNvPr id="27" name="Text 5"/>
          <p:cNvSpPr/>
          <p:nvPr/>
        </p:nvSpPr>
        <p:spPr>
          <a:xfrm>
            <a:off x="2959316" y="1763509"/>
            <a:ext cx="334486" cy="243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6"/>
          <p:cNvSpPr/>
          <p:nvPr/>
        </p:nvSpPr>
        <p:spPr>
          <a:xfrm>
            <a:off x="2875775" y="2614114"/>
            <a:ext cx="1782259" cy="42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74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Pattern Recognition</a:t>
            </a:r>
            <a:endParaRPr lang="en-US" sz="1500" dirty="0"/>
          </a:p>
        </p:txBody>
      </p:sp>
      <p:sp>
        <p:nvSpPr>
          <p:cNvPr id="29" name="Text 7"/>
          <p:cNvSpPr/>
          <p:nvPr/>
        </p:nvSpPr>
        <p:spPr>
          <a:xfrm>
            <a:off x="2875775" y="3130553"/>
            <a:ext cx="1782259" cy="8667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Identifying recurring structures, behaviors, or relationships within data or systems.</a:t>
            </a:r>
            <a:endParaRPr lang="en-US" sz="1050" dirty="0"/>
          </a:p>
        </p:txBody>
      </p:sp>
      <p:sp>
        <p:nvSpPr>
          <p:cNvPr id="30" name="Text 8"/>
          <p:cNvSpPr/>
          <p:nvPr/>
        </p:nvSpPr>
        <p:spPr>
          <a:xfrm>
            <a:off x="5288392" y="1763509"/>
            <a:ext cx="334486" cy="243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9"/>
          <p:cNvSpPr/>
          <p:nvPr/>
        </p:nvSpPr>
        <p:spPr>
          <a:xfrm>
            <a:off x="5204851" y="2614114"/>
            <a:ext cx="3153723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74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Abstraction</a:t>
            </a:r>
            <a:endParaRPr lang="en-US" sz="1500" dirty="0"/>
          </a:p>
        </p:txBody>
      </p:sp>
      <p:sp>
        <p:nvSpPr>
          <p:cNvPr id="32" name="Text 10"/>
          <p:cNvSpPr/>
          <p:nvPr/>
        </p:nvSpPr>
        <p:spPr>
          <a:xfrm>
            <a:off x="5204851" y="2917902"/>
            <a:ext cx="1782140" cy="8667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Focusing on essential features while ignoring irrelevant details for efficient modeling.</a:t>
            </a:r>
            <a:endParaRPr lang="en-US" sz="1050" dirty="0"/>
          </a:p>
        </p:txBody>
      </p:sp>
      <p:sp>
        <p:nvSpPr>
          <p:cNvPr id="33" name="Text 11"/>
          <p:cNvSpPr/>
          <p:nvPr/>
        </p:nvSpPr>
        <p:spPr>
          <a:xfrm>
            <a:off x="7617350" y="1763509"/>
            <a:ext cx="334486" cy="243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12"/>
          <p:cNvSpPr/>
          <p:nvPr/>
        </p:nvSpPr>
        <p:spPr>
          <a:xfrm>
            <a:off x="7533808" y="2614114"/>
            <a:ext cx="458723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74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Algorithm Design</a:t>
            </a:r>
            <a:endParaRPr lang="en-US" sz="1500" dirty="0"/>
          </a:p>
        </p:txBody>
      </p:sp>
      <p:sp>
        <p:nvSpPr>
          <p:cNvPr id="35" name="Text 13"/>
          <p:cNvSpPr/>
          <p:nvPr/>
        </p:nvSpPr>
        <p:spPr>
          <a:xfrm>
            <a:off x="7533808" y="2917902"/>
            <a:ext cx="1782259" cy="65005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Creating precise, step-by-step procedures to solve the defined problem.</a:t>
            </a:r>
            <a:endParaRPr lang="en-US" sz="1050" dirty="0"/>
          </a:p>
        </p:txBody>
      </p:sp>
      <p:sp>
        <p:nvSpPr>
          <p:cNvPr id="36" name="Text 14"/>
          <p:cNvSpPr/>
          <p:nvPr/>
        </p:nvSpPr>
        <p:spPr>
          <a:xfrm>
            <a:off x="9946425" y="1763509"/>
            <a:ext cx="334486" cy="243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050" dirty="0"/>
          </a:p>
        </p:txBody>
      </p:sp>
      <p:sp>
        <p:nvSpPr>
          <p:cNvPr id="37" name="Text 15"/>
          <p:cNvSpPr/>
          <p:nvPr/>
        </p:nvSpPr>
        <p:spPr>
          <a:xfrm>
            <a:off x="9862884" y="2614114"/>
            <a:ext cx="286702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74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38" name="Text 16"/>
          <p:cNvSpPr/>
          <p:nvPr/>
        </p:nvSpPr>
        <p:spPr>
          <a:xfrm>
            <a:off x="9862884" y="2917902"/>
            <a:ext cx="1782140" cy="8667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Testing solutions against real-world data and refining for accuracy and performance.</a:t>
            </a:r>
            <a:endParaRPr lang="en-US" sz="1050" dirty="0"/>
          </a:p>
        </p:txBody>
      </p:sp>
      <p:sp>
        <p:nvSpPr>
          <p:cNvPr id="39" name="Text 17"/>
          <p:cNvSpPr/>
          <p:nvPr/>
        </p:nvSpPr>
        <p:spPr>
          <a:xfrm>
            <a:off x="1154392" y="4908658"/>
            <a:ext cx="10429994" cy="55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i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"Computational thinking is a universal problem-solving methodology applicable across disciplines—from biology and physics to engineering and social sciences."</a:t>
            </a:r>
            <a:endParaRPr lang="en-US" sz="1350" dirty="0"/>
          </a:p>
        </p:txBody>
      </p:sp>
      <p:sp>
        <p:nvSpPr>
          <p:cNvPr id="40" name="Text 18"/>
          <p:cNvSpPr/>
          <p:nvPr/>
        </p:nvSpPr>
        <p:spPr>
          <a:xfrm>
            <a:off x="364545" y="6341561"/>
            <a:ext cx="11439408" cy="1518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96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Scientific Computing — Computational Thinking Foundations</a:t>
            </a:r>
            <a:endParaRPr lang="en-US" sz="1050" dirty="0"/>
          </a:p>
        </p:txBody>
      </p:sp>
      <p:sp>
        <p:nvSpPr>
          <p:cNvPr id="41" name="Text 19"/>
          <p:cNvSpPr/>
          <p:nvPr/>
        </p:nvSpPr>
        <p:spPr>
          <a:xfrm>
            <a:off x="10619861" y="6341561"/>
            <a:ext cx="4214519" cy="1518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96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01 • Page 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4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18" y="320218"/>
            <a:ext cx="11551507" cy="6973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218" y="1983224"/>
            <a:ext cx="226821" cy="22848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020" y="1284416"/>
            <a:ext cx="7647704" cy="256883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3957" y="1497894"/>
            <a:ext cx="1707829" cy="96419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1140" y="2568831"/>
            <a:ext cx="193465" cy="18679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7499" y="2862364"/>
            <a:ext cx="2335756" cy="77740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9994" y="2862364"/>
            <a:ext cx="2335756" cy="77740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2489" y="2862364"/>
            <a:ext cx="2335756" cy="77740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218" y="4173465"/>
            <a:ext cx="140095" cy="190547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218" y="4470750"/>
            <a:ext cx="5668962" cy="61729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0272" y="4577490"/>
            <a:ext cx="153438" cy="15239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218" y="5168100"/>
            <a:ext cx="5668962" cy="388702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0272" y="5274839"/>
            <a:ext cx="153438" cy="15239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0218" y="5636857"/>
            <a:ext cx="5668962" cy="388702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0272" y="5743596"/>
            <a:ext cx="153438" cy="15239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02658" y="4173465"/>
            <a:ext cx="5669066" cy="1852094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62767" y="4630651"/>
            <a:ext cx="240164" cy="190547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62767" y="5141415"/>
            <a:ext cx="1527706" cy="186794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43843" y="5141415"/>
            <a:ext cx="1601089" cy="186794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98302" y="5141415"/>
            <a:ext cx="1420967" cy="186794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62767" y="5381578"/>
            <a:ext cx="1134105" cy="186794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20218" y="6244249"/>
            <a:ext cx="11551507" cy="293533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80327" y="320218"/>
            <a:ext cx="16450048" cy="4571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103" kern="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Decomposition</a:t>
            </a:r>
            <a:endParaRPr lang="en-US" sz="3600" dirty="0"/>
          </a:p>
        </p:txBody>
      </p:sp>
      <p:sp>
        <p:nvSpPr>
          <p:cNvPr id="26" name="Text 1"/>
          <p:cNvSpPr/>
          <p:nvPr/>
        </p:nvSpPr>
        <p:spPr>
          <a:xfrm>
            <a:off x="480327" y="830774"/>
            <a:ext cx="11391398" cy="1867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1"/>
              </a:lnSpc>
              <a:buNone/>
            </a:pPr>
            <a:r>
              <a:rPr lang="en-US" sz="1500" b="1" spc="86" kern="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1 OF COMPUTATIONAL THINKING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627093" y="1990730"/>
            <a:ext cx="7050031" cy="21347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1"/>
              </a:lnSpc>
              <a:buNone/>
            </a:pPr>
            <a:r>
              <a:rPr lang="en-US" sz="1800" b="1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Divide and Conquer</a:t>
            </a:r>
            <a:endParaRPr lang="en-US" sz="1800" dirty="0"/>
          </a:p>
        </p:txBody>
      </p:sp>
      <p:sp>
        <p:nvSpPr>
          <p:cNvPr id="28" name="Text 3"/>
          <p:cNvSpPr/>
          <p:nvPr/>
        </p:nvSpPr>
        <p:spPr>
          <a:xfrm>
            <a:off x="320218" y="2318453"/>
            <a:ext cx="3743693" cy="8358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process of breaking down a large, complex problem into smaller, more manageable subproblems to reduce </a:t>
            </a:r>
            <a:pPr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cognitive load</a:t>
            </a:r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350" dirty="0"/>
          </a:p>
        </p:txBody>
      </p:sp>
      <p:sp>
        <p:nvSpPr>
          <p:cNvPr id="29" name="Text 4"/>
          <p:cNvSpPr/>
          <p:nvPr/>
        </p:nvSpPr>
        <p:spPr>
          <a:xfrm>
            <a:off x="7669490" y="1704702"/>
            <a:ext cx="756661" cy="38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900" b="1" spc="103" kern="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 CHALLENGE</a:t>
            </a:r>
            <a:endParaRPr lang="en-US" sz="900" dirty="0"/>
          </a:p>
        </p:txBody>
      </p:sp>
      <p:sp>
        <p:nvSpPr>
          <p:cNvPr id="30" name="Text 5"/>
          <p:cNvSpPr/>
          <p:nvPr/>
        </p:nvSpPr>
        <p:spPr>
          <a:xfrm>
            <a:off x="6285366" y="2115189"/>
            <a:ext cx="3525012" cy="1867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1"/>
              </a:lnSpc>
              <a:buNone/>
            </a:pPr>
            <a:r>
              <a:rPr lang="en-US" sz="135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 Problem</a:t>
            </a:r>
            <a:endParaRPr lang="en-US" sz="1350" dirty="0"/>
          </a:p>
        </p:txBody>
      </p:sp>
      <p:sp>
        <p:nvSpPr>
          <p:cNvPr id="31" name="Text 6"/>
          <p:cNvSpPr/>
          <p:nvPr/>
        </p:nvSpPr>
        <p:spPr>
          <a:xfrm>
            <a:off x="4789403" y="3069172"/>
            <a:ext cx="1631947" cy="15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01</a:t>
            </a:r>
            <a:endParaRPr lang="en-US" sz="900" dirty="0"/>
          </a:p>
        </p:txBody>
      </p:sp>
      <p:sp>
        <p:nvSpPr>
          <p:cNvPr id="32" name="Text 7"/>
          <p:cNvSpPr/>
          <p:nvPr/>
        </p:nvSpPr>
        <p:spPr>
          <a:xfrm>
            <a:off x="4038708" y="3251066"/>
            <a:ext cx="3133338" cy="2285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Subproblem A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7231898" y="3069172"/>
            <a:ext cx="1631947" cy="15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02</a:t>
            </a:r>
            <a:endParaRPr lang="en-US" sz="900" dirty="0"/>
          </a:p>
        </p:txBody>
      </p:sp>
      <p:sp>
        <p:nvSpPr>
          <p:cNvPr id="34" name="Text 9"/>
          <p:cNvSpPr/>
          <p:nvPr/>
        </p:nvSpPr>
        <p:spPr>
          <a:xfrm>
            <a:off x="6481203" y="3251066"/>
            <a:ext cx="3133338" cy="2285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Subproblem B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9674394" y="3069172"/>
            <a:ext cx="1631947" cy="15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03</a:t>
            </a:r>
            <a:endParaRPr lang="en-US" sz="900" dirty="0"/>
          </a:p>
        </p:txBody>
      </p:sp>
      <p:sp>
        <p:nvSpPr>
          <p:cNvPr id="36" name="Text 11"/>
          <p:cNvSpPr/>
          <p:nvPr/>
        </p:nvSpPr>
        <p:spPr>
          <a:xfrm>
            <a:off x="8923698" y="3251066"/>
            <a:ext cx="3133338" cy="2285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Subproblem C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513683" y="4173465"/>
            <a:ext cx="5668962" cy="19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1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Advantages</a:t>
            </a:r>
            <a:endParaRPr lang="en-US" sz="1500" dirty="0"/>
          </a:p>
        </p:txBody>
      </p:sp>
      <p:sp>
        <p:nvSpPr>
          <p:cNvPr id="38" name="Text 13"/>
          <p:cNvSpPr/>
          <p:nvPr/>
        </p:nvSpPr>
        <p:spPr>
          <a:xfrm>
            <a:off x="633765" y="4550805"/>
            <a:ext cx="5275360" cy="4571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Parallel Development: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Teams can work on different modules simultaneously.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633765" y="5248155"/>
            <a:ext cx="18800027" cy="2285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Focused Testing: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Isolate and validate specific components of the system.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633765" y="5716911"/>
            <a:ext cx="19061139" cy="2285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Simplified Debugging: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Errors are easier to locate in smaller code blocks.</a:t>
            </a:r>
            <a:endParaRPr lang="en-US" sz="1200" dirty="0"/>
          </a:p>
        </p:txBody>
      </p:sp>
      <p:sp>
        <p:nvSpPr>
          <p:cNvPr id="41" name="Text 16"/>
          <p:cNvSpPr/>
          <p:nvPr/>
        </p:nvSpPr>
        <p:spPr>
          <a:xfrm>
            <a:off x="6656300" y="4630651"/>
            <a:ext cx="9791715" cy="19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1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Study: Weather Prediction</a:t>
            </a:r>
            <a:endParaRPr lang="en-US" sz="1500" dirty="0"/>
          </a:p>
        </p:txBody>
      </p:sp>
      <p:sp>
        <p:nvSpPr>
          <p:cNvPr id="42" name="Text 17"/>
          <p:cNvSpPr/>
          <p:nvPr/>
        </p:nvSpPr>
        <p:spPr>
          <a:xfrm>
            <a:off x="6362767" y="4927936"/>
            <a:ext cx="8453506" cy="1334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51"/>
              </a:lnSpc>
              <a:buNone/>
            </a:pPr>
            <a:r>
              <a:rPr lang="en-US" sz="1050" i="1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Decomposing the global forecast into:</a:t>
            </a:r>
            <a:endParaRPr lang="en-US" sz="1050" dirty="0"/>
          </a:p>
        </p:txBody>
      </p:sp>
      <p:sp>
        <p:nvSpPr>
          <p:cNvPr id="43" name="Text 18"/>
          <p:cNvSpPr/>
          <p:nvPr/>
        </p:nvSpPr>
        <p:spPr>
          <a:xfrm>
            <a:off x="6442821" y="5141415"/>
            <a:ext cx="3885706" cy="1867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51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Atmospheric Pressure</a:t>
            </a:r>
            <a:endParaRPr lang="en-US" sz="1050" dirty="0"/>
          </a:p>
        </p:txBody>
      </p:sp>
      <p:sp>
        <p:nvSpPr>
          <p:cNvPr id="44" name="Text 19"/>
          <p:cNvSpPr/>
          <p:nvPr/>
        </p:nvSpPr>
        <p:spPr>
          <a:xfrm>
            <a:off x="8023897" y="5141415"/>
            <a:ext cx="4112897" cy="1867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51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Temperature Gradients</a:t>
            </a:r>
            <a:endParaRPr lang="en-US" sz="1050" dirty="0"/>
          </a:p>
        </p:txBody>
      </p:sp>
      <p:sp>
        <p:nvSpPr>
          <p:cNvPr id="45" name="Text 20"/>
          <p:cNvSpPr/>
          <p:nvPr/>
        </p:nvSpPr>
        <p:spPr>
          <a:xfrm>
            <a:off x="9678356" y="5141415"/>
            <a:ext cx="3450910" cy="1867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51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Wind Flow Dynamics</a:t>
            </a:r>
            <a:endParaRPr lang="en-US" sz="1050" dirty="0"/>
          </a:p>
        </p:txBody>
      </p:sp>
      <p:sp>
        <p:nvSpPr>
          <p:cNvPr id="46" name="Text 21"/>
          <p:cNvSpPr/>
          <p:nvPr/>
        </p:nvSpPr>
        <p:spPr>
          <a:xfrm>
            <a:off x="6442821" y="5381578"/>
            <a:ext cx="2736302" cy="1867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51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Humidity Levels</a:t>
            </a:r>
            <a:endParaRPr lang="en-US" sz="1050" dirty="0"/>
          </a:p>
        </p:txBody>
      </p:sp>
      <p:sp>
        <p:nvSpPr>
          <p:cNvPr id="47" name="Text 22"/>
          <p:cNvSpPr/>
          <p:nvPr/>
        </p:nvSpPr>
        <p:spPr>
          <a:xfrm>
            <a:off x="320218" y="6404358"/>
            <a:ext cx="11880603" cy="1334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51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Computational Thinking — Problem-Solving Methodology</a:t>
            </a:r>
            <a:endParaRPr lang="en-US" sz="1050" dirty="0"/>
          </a:p>
        </p:txBody>
      </p:sp>
      <p:sp>
        <p:nvSpPr>
          <p:cNvPr id="48" name="Text 23"/>
          <p:cNvSpPr/>
          <p:nvPr/>
        </p:nvSpPr>
        <p:spPr>
          <a:xfrm>
            <a:off x="10817673" y="6404358"/>
            <a:ext cx="4340989" cy="1334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51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 1 | Slide 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41" y="381441"/>
            <a:ext cx="4455490" cy="74326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41" y="1455487"/>
            <a:ext cx="230454" cy="22846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441" y="2882416"/>
            <a:ext cx="262241" cy="35561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015" y="2985723"/>
            <a:ext cx="135094" cy="15893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441" y="3396965"/>
            <a:ext cx="262241" cy="35561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015" y="3500272"/>
            <a:ext cx="135094" cy="15893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49414" y="1442574"/>
            <a:ext cx="6560993" cy="231000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2948" y="2232029"/>
            <a:ext cx="508589" cy="50858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7909" y="2359176"/>
            <a:ext cx="198668" cy="25429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47761" y="2486323"/>
            <a:ext cx="119201" cy="22250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1795" y="2073095"/>
            <a:ext cx="635736" cy="635736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0862" y="2247922"/>
            <a:ext cx="357601" cy="28608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92364" y="2486323"/>
            <a:ext cx="119200" cy="222508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67788" y="2232029"/>
            <a:ext cx="508589" cy="508589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06855" y="2359176"/>
            <a:ext cx="230455" cy="254294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441" y="4006874"/>
            <a:ext cx="11429090" cy="1480072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5736" y="4465796"/>
            <a:ext cx="611896" cy="562229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2883" y="4592943"/>
            <a:ext cx="357601" cy="286081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66897" y="4460829"/>
            <a:ext cx="1589339" cy="254294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966897" y="4778697"/>
            <a:ext cx="1589339" cy="254294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1441" y="6126904"/>
            <a:ext cx="11429090" cy="349655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572162" y="381441"/>
            <a:ext cx="12494507" cy="4571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86" kern="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 Recognition</a:t>
            </a:r>
            <a:endParaRPr lang="en-US" sz="3600" dirty="0"/>
          </a:p>
        </p:txBody>
      </p:sp>
      <p:sp>
        <p:nvSpPr>
          <p:cNvPr id="25" name="Text 1"/>
          <p:cNvSpPr/>
          <p:nvPr/>
        </p:nvSpPr>
        <p:spPr>
          <a:xfrm>
            <a:off x="572162" y="902198"/>
            <a:ext cx="8676738" cy="2225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52"/>
              </a:lnSpc>
              <a:buNone/>
            </a:pPr>
            <a:r>
              <a:rPr lang="en-US" sz="1500" b="1" i="1" spc="72" kern="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2: COMPUTATIONAL THINKING</a:t>
            </a:r>
            <a:endParaRPr lang="en-US" sz="1500" dirty="0"/>
          </a:p>
        </p:txBody>
      </p:sp>
      <p:sp>
        <p:nvSpPr>
          <p:cNvPr id="26" name="Text 2"/>
          <p:cNvSpPr/>
          <p:nvPr/>
        </p:nvSpPr>
        <p:spPr>
          <a:xfrm>
            <a:off x="9452362" y="341708"/>
            <a:ext cx="2053369" cy="3099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51"/>
              </a:lnSpc>
              <a:buNone/>
            </a:pPr>
            <a:r>
              <a:rPr lang="en-US" sz="1050" b="1" dirty="0">
                <a:solidFill>
                  <a:srgbClr val="27AE60"/>
                </a:solidFill>
                <a:highlight>
                  <a:srgbClr val="DCFCE7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PRINCIPLE</a:t>
            </a:r>
            <a:endParaRPr lang="en-US" sz="1050" dirty="0"/>
          </a:p>
        </p:txBody>
      </p:sp>
      <p:sp>
        <p:nvSpPr>
          <p:cNvPr id="27" name="Text 3"/>
          <p:cNvSpPr/>
          <p:nvPr/>
        </p:nvSpPr>
        <p:spPr>
          <a:xfrm>
            <a:off x="707256" y="1442574"/>
            <a:ext cx="7233674" cy="25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02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Detecting Regularities</a:t>
            </a:r>
            <a:endParaRPr lang="en-US" sz="1800" dirty="0"/>
          </a:p>
        </p:txBody>
      </p:sp>
      <p:sp>
        <p:nvSpPr>
          <p:cNvPr id="28" name="Text 4"/>
          <p:cNvSpPr/>
          <p:nvPr/>
        </p:nvSpPr>
        <p:spPr>
          <a:xfrm>
            <a:off x="381441" y="1824015"/>
            <a:ext cx="4613679" cy="8358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Identifying recurring structures, behaviors, or relationships within data sets to transform raw observations into structured computational insights.</a:t>
            </a:r>
            <a:endParaRPr lang="en-US" sz="1350" dirty="0"/>
          </a:p>
        </p:txBody>
      </p:sp>
      <p:sp>
        <p:nvSpPr>
          <p:cNvPr id="29" name="Text 5"/>
          <p:cNvSpPr/>
          <p:nvPr/>
        </p:nvSpPr>
        <p:spPr>
          <a:xfrm>
            <a:off x="770830" y="2850629"/>
            <a:ext cx="12056124" cy="22846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Trend Identification: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Spotting cycles and correlations.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770830" y="3365178"/>
            <a:ext cx="10302506" cy="2284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Complexity Reduction: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Enabling generalizations.</a:t>
            </a:r>
            <a:endParaRPr lang="en-US" sz="1200" dirty="0"/>
          </a:p>
        </p:txBody>
      </p:sp>
      <p:sp>
        <p:nvSpPr>
          <p:cNvPr id="31" name="Text 7"/>
          <p:cNvSpPr/>
          <p:nvPr/>
        </p:nvSpPr>
        <p:spPr>
          <a:xfrm>
            <a:off x="6035269" y="2835978"/>
            <a:ext cx="1315209" cy="1271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01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RAW DATA</a:t>
            </a:r>
            <a:endParaRPr lang="en-US" sz="900" dirty="0"/>
          </a:p>
        </p:txBody>
      </p:sp>
      <p:sp>
        <p:nvSpPr>
          <p:cNvPr id="32" name="Text 8"/>
          <p:cNvSpPr/>
          <p:nvPr/>
        </p:nvSpPr>
        <p:spPr>
          <a:xfrm>
            <a:off x="8144248" y="2804191"/>
            <a:ext cx="770830" cy="31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51"/>
              </a:lnSpc>
              <a:buNone/>
            </a:pPr>
            <a:r>
              <a:rPr lang="en-US" sz="1050" b="1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Pattern</a:t>
            </a:r>
            <a:pPr algn="ctr" indent="0" marL="0">
              <a:lnSpc>
                <a:spcPts val="1251"/>
              </a:lnSpc>
              <a:buNone/>
            </a:pPr>
            <a:r>
              <a:rPr lang="en-US" sz="1050" b="1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1251"/>
              </a:lnSpc>
              <a:buNone/>
            </a:pPr>
            <a:r>
              <a:rPr lang="en-US" sz="1050" b="1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Recognition</a:t>
            </a:r>
            <a:endParaRPr lang="en-US" sz="1050" dirty="0"/>
          </a:p>
        </p:txBody>
      </p:sp>
      <p:sp>
        <p:nvSpPr>
          <p:cNvPr id="33" name="Text 9"/>
          <p:cNvSpPr/>
          <p:nvPr/>
        </p:nvSpPr>
        <p:spPr>
          <a:xfrm>
            <a:off x="10332694" y="2835978"/>
            <a:ext cx="1808412" cy="1271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01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INPUT</a:t>
            </a:r>
            <a:endParaRPr lang="en-US" sz="900" dirty="0"/>
          </a:p>
        </p:txBody>
      </p:sp>
      <p:sp>
        <p:nvSpPr>
          <p:cNvPr id="34" name="Text 10"/>
          <p:cNvSpPr/>
          <p:nvPr/>
        </p:nvSpPr>
        <p:spPr>
          <a:xfrm>
            <a:off x="1438352" y="4261168"/>
            <a:ext cx="9042074" cy="2225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52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Case: Climate Modeling</a:t>
            </a:r>
            <a:endParaRPr lang="en-US" sz="1500" dirty="0"/>
          </a:p>
        </p:txBody>
      </p:sp>
      <p:sp>
        <p:nvSpPr>
          <p:cNvPr id="35" name="Text 11"/>
          <p:cNvSpPr/>
          <p:nvPr/>
        </p:nvSpPr>
        <p:spPr>
          <a:xfrm>
            <a:off x="1438352" y="4547249"/>
            <a:ext cx="8337824" cy="68540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Analyzing historical climate data reveals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seasonal temperature trends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Recognizing these patterns allows researchers to create predictive models that anticipate future cycles without simulating every minor atmospheric particle.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10094044" y="4524403"/>
            <a:ext cx="1644011" cy="1271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01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Efficiency</a:t>
            </a:r>
            <a:endParaRPr lang="en-US" sz="900" dirty="0"/>
          </a:p>
        </p:txBody>
      </p:sp>
      <p:sp>
        <p:nvSpPr>
          <p:cNvPr id="37" name="Text 13"/>
          <p:cNvSpPr/>
          <p:nvPr/>
        </p:nvSpPr>
        <p:spPr>
          <a:xfrm>
            <a:off x="11154804" y="4524403"/>
            <a:ext cx="876806" cy="1271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01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+45%</a:t>
            </a:r>
            <a:endParaRPr lang="en-US" sz="900" dirty="0"/>
          </a:p>
        </p:txBody>
      </p:sp>
      <p:sp>
        <p:nvSpPr>
          <p:cNvPr id="38" name="Text 14"/>
          <p:cNvSpPr/>
          <p:nvPr/>
        </p:nvSpPr>
        <p:spPr>
          <a:xfrm>
            <a:off x="10094044" y="4842270"/>
            <a:ext cx="2301616" cy="1271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01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Predictability</a:t>
            </a:r>
            <a:endParaRPr lang="en-US" sz="900" dirty="0"/>
          </a:p>
        </p:txBody>
      </p:sp>
      <p:sp>
        <p:nvSpPr>
          <p:cNvPr id="39" name="Text 15"/>
          <p:cNvSpPr/>
          <p:nvPr/>
        </p:nvSpPr>
        <p:spPr>
          <a:xfrm>
            <a:off x="11154804" y="4842270"/>
            <a:ext cx="657604" cy="1271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01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High</a:t>
            </a:r>
            <a:endParaRPr lang="en-US" sz="900" dirty="0"/>
          </a:p>
        </p:txBody>
      </p:sp>
      <p:sp>
        <p:nvSpPr>
          <p:cNvPr id="40" name="Text 16"/>
          <p:cNvSpPr/>
          <p:nvPr/>
        </p:nvSpPr>
        <p:spPr>
          <a:xfrm>
            <a:off x="381441" y="6317625"/>
            <a:ext cx="4667188" cy="15893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51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01: Foundations</a:t>
            </a:r>
            <a:endParaRPr lang="en-US" sz="1050" dirty="0"/>
          </a:p>
        </p:txBody>
      </p:sp>
      <p:sp>
        <p:nvSpPr>
          <p:cNvPr id="41" name="Text 17"/>
          <p:cNvSpPr/>
          <p:nvPr/>
        </p:nvSpPr>
        <p:spPr>
          <a:xfrm>
            <a:off x="2050248" y="6317625"/>
            <a:ext cx="5945870" cy="15893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51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Section: Computational Thinking</a:t>
            </a:r>
            <a:endParaRPr lang="en-US" sz="1050" dirty="0"/>
          </a:p>
        </p:txBody>
      </p:sp>
      <p:sp>
        <p:nvSpPr>
          <p:cNvPr id="42" name="Text 18"/>
          <p:cNvSpPr/>
          <p:nvPr/>
        </p:nvSpPr>
        <p:spPr>
          <a:xfrm>
            <a:off x="10531237" y="6317625"/>
            <a:ext cx="4091782" cy="15893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51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Date: 2026-03-02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51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82" y="333182"/>
            <a:ext cx="11525587" cy="707036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182" y="1317870"/>
            <a:ext cx="11525587" cy="127915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304" y="1539991"/>
            <a:ext cx="562245" cy="54782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64" y="1651052"/>
            <a:ext cx="340123" cy="27765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182" y="2819142"/>
            <a:ext cx="5651733" cy="221264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304" y="3043216"/>
            <a:ext cx="187415" cy="19045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5304" y="3402211"/>
            <a:ext cx="5207490" cy="39511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599" y="3523575"/>
            <a:ext cx="166591" cy="1522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5304" y="3908383"/>
            <a:ext cx="5207490" cy="395111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599" y="4029747"/>
            <a:ext cx="166591" cy="1522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5304" y="4414556"/>
            <a:ext cx="5207490" cy="395111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599" y="4535920"/>
            <a:ext cx="166591" cy="15227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07036" y="2819142"/>
            <a:ext cx="5651733" cy="2212646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29158" y="3043216"/>
            <a:ext cx="236004" cy="190452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29158" y="3402211"/>
            <a:ext cx="5207490" cy="395111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12454" y="3523575"/>
            <a:ext cx="166591" cy="15227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29158" y="3908383"/>
            <a:ext cx="5207490" cy="395111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12454" y="4029747"/>
            <a:ext cx="166591" cy="152275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29158" y="4414556"/>
            <a:ext cx="5207490" cy="395111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12454" y="4535920"/>
            <a:ext cx="166591" cy="152275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3182" y="5364971"/>
            <a:ext cx="11525587" cy="555303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9773" y="5531562"/>
            <a:ext cx="229063" cy="222121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88122" y="5531562"/>
            <a:ext cx="229063" cy="222121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33182" y="6219401"/>
            <a:ext cx="11525587" cy="305417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499773" y="333182"/>
            <a:ext cx="18068553" cy="4571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99" kern="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Abstraction and Modeling</a:t>
            </a:r>
            <a:endParaRPr lang="en-US" sz="3600" dirty="0"/>
          </a:p>
        </p:txBody>
      </p:sp>
      <p:sp>
        <p:nvSpPr>
          <p:cNvPr id="28" name="Text 1"/>
          <p:cNvSpPr/>
          <p:nvPr/>
        </p:nvSpPr>
        <p:spPr>
          <a:xfrm>
            <a:off x="499773" y="845862"/>
            <a:ext cx="11358996" cy="1943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500" b="1" spc="82" kern="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3 OF COMPUTATIONAL THINKING</a:t>
            </a:r>
            <a:endParaRPr lang="en-US" sz="1500" dirty="0"/>
          </a:p>
        </p:txBody>
      </p:sp>
      <p:sp>
        <p:nvSpPr>
          <p:cNvPr id="29" name="Text 2"/>
          <p:cNvSpPr/>
          <p:nvPr/>
        </p:nvSpPr>
        <p:spPr>
          <a:xfrm>
            <a:off x="1284140" y="1539991"/>
            <a:ext cx="10916401" cy="2221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49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Process of Simplification</a:t>
            </a:r>
            <a:endParaRPr lang="en-US" sz="1800" dirty="0"/>
          </a:p>
        </p:txBody>
      </p:sp>
      <p:sp>
        <p:nvSpPr>
          <p:cNvPr id="30" name="Text 3"/>
          <p:cNvSpPr/>
          <p:nvPr/>
        </p:nvSpPr>
        <p:spPr>
          <a:xfrm>
            <a:off x="1284140" y="1817643"/>
            <a:ext cx="10352508" cy="5572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Abstraction involves identifying </a:t>
            </a:r>
            <a:pPr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essential features</a:t>
            </a:r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a system while deliberately omitting non-essential, fine-grained details. This creates efficient computational models that capture core dynamics without unnecessary complexity.</a:t>
            </a:r>
            <a:endParaRPr lang="en-US" sz="1350" dirty="0"/>
          </a:p>
        </p:txBody>
      </p:sp>
      <p:sp>
        <p:nvSpPr>
          <p:cNvPr id="31" name="Text 4"/>
          <p:cNvSpPr/>
          <p:nvPr/>
        </p:nvSpPr>
        <p:spPr>
          <a:xfrm>
            <a:off x="826014" y="3041263"/>
            <a:ext cx="8469616" cy="1943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Essential Variables (Focus)</a:t>
            </a:r>
            <a:endParaRPr lang="en-US" sz="1500" dirty="0"/>
          </a:p>
        </p:txBody>
      </p:sp>
      <p:sp>
        <p:nvSpPr>
          <p:cNvPr id="32" name="Text 5"/>
          <p:cNvSpPr/>
          <p:nvPr/>
        </p:nvSpPr>
        <p:spPr>
          <a:xfrm>
            <a:off x="916251" y="3485506"/>
            <a:ext cx="5270003" cy="2285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Temperature Gradients</a:t>
            </a:r>
            <a:endParaRPr lang="en-US" sz="1200" dirty="0"/>
          </a:p>
        </p:txBody>
      </p:sp>
      <p:sp>
        <p:nvSpPr>
          <p:cNvPr id="33" name="Text 6"/>
          <p:cNvSpPr/>
          <p:nvPr/>
        </p:nvSpPr>
        <p:spPr>
          <a:xfrm>
            <a:off x="916251" y="3991679"/>
            <a:ext cx="6273813" cy="2285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Wind Velocity &amp; Direction</a:t>
            </a:r>
            <a:endParaRPr lang="en-US" sz="1200" dirty="0"/>
          </a:p>
        </p:txBody>
      </p:sp>
      <p:sp>
        <p:nvSpPr>
          <p:cNvPr id="34" name="Text 7"/>
          <p:cNvSpPr/>
          <p:nvPr/>
        </p:nvSpPr>
        <p:spPr>
          <a:xfrm>
            <a:off x="916251" y="4497851"/>
            <a:ext cx="5019050" cy="2285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Atmospheric Pressure</a:t>
            </a:r>
            <a:endParaRPr lang="en-US" sz="1200" dirty="0"/>
          </a:p>
        </p:txBody>
      </p:sp>
      <p:sp>
        <p:nvSpPr>
          <p:cNvPr id="35" name="Text 8"/>
          <p:cNvSpPr/>
          <p:nvPr/>
        </p:nvSpPr>
        <p:spPr>
          <a:xfrm>
            <a:off x="6748457" y="3041263"/>
            <a:ext cx="7842237" cy="1943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Irrelevant Details (Omit)</a:t>
            </a:r>
            <a:endParaRPr lang="en-US" sz="1500" dirty="0"/>
          </a:p>
        </p:txBody>
      </p:sp>
      <p:sp>
        <p:nvSpPr>
          <p:cNvPr id="36" name="Text 9"/>
          <p:cNvSpPr/>
          <p:nvPr/>
        </p:nvSpPr>
        <p:spPr>
          <a:xfrm>
            <a:off x="6790105" y="3485506"/>
            <a:ext cx="5771908" cy="2285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Individual cloud shapes</a:t>
            </a:r>
            <a:endParaRPr lang="en-US" sz="1200" dirty="0"/>
          </a:p>
        </p:txBody>
      </p:sp>
      <p:sp>
        <p:nvSpPr>
          <p:cNvPr id="37" name="Text 10"/>
          <p:cNvSpPr/>
          <p:nvPr/>
        </p:nvSpPr>
        <p:spPr>
          <a:xfrm>
            <a:off x="6790105" y="3991679"/>
            <a:ext cx="6775718" cy="2285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Minor atmospheric particles</a:t>
            </a:r>
            <a:endParaRPr lang="en-US" sz="1200" dirty="0"/>
          </a:p>
        </p:txBody>
      </p:sp>
      <p:sp>
        <p:nvSpPr>
          <p:cNvPr id="38" name="Text 11"/>
          <p:cNvSpPr/>
          <p:nvPr/>
        </p:nvSpPr>
        <p:spPr>
          <a:xfrm>
            <a:off x="6790105" y="4497851"/>
            <a:ext cx="6775718" cy="2285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vegetation variations</a:t>
            </a:r>
            <a:endParaRPr lang="en-US" sz="1200" dirty="0"/>
          </a:p>
        </p:txBody>
      </p:sp>
      <p:sp>
        <p:nvSpPr>
          <p:cNvPr id="39" name="Text 12"/>
          <p:cNvSpPr/>
          <p:nvPr/>
        </p:nvSpPr>
        <p:spPr>
          <a:xfrm>
            <a:off x="839897" y="5545444"/>
            <a:ext cx="13833729" cy="19435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Result: Efficient &amp; Scalable Computational Models</a:t>
            </a:r>
            <a:endParaRPr lang="en-US" sz="1350" dirty="0"/>
          </a:p>
        </p:txBody>
      </p:sp>
      <p:sp>
        <p:nvSpPr>
          <p:cNvPr id="40" name="Text 13"/>
          <p:cNvSpPr/>
          <p:nvPr/>
        </p:nvSpPr>
        <p:spPr>
          <a:xfrm>
            <a:off x="8728245" y="5545444"/>
            <a:ext cx="9598914" cy="19435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Goal: Capture Core System Dynamics</a:t>
            </a:r>
            <a:endParaRPr lang="en-US" sz="1350" dirty="0"/>
          </a:p>
        </p:txBody>
      </p:sp>
      <p:sp>
        <p:nvSpPr>
          <p:cNvPr id="41" name="Text 14"/>
          <p:cNvSpPr/>
          <p:nvPr/>
        </p:nvSpPr>
        <p:spPr>
          <a:xfrm>
            <a:off x="333182" y="6385992"/>
            <a:ext cx="1463886" cy="1388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93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 1</a:t>
            </a:r>
            <a:endParaRPr lang="en-US" sz="1050" dirty="0"/>
          </a:p>
        </p:txBody>
      </p:sp>
      <p:sp>
        <p:nvSpPr>
          <p:cNvPr id="42" name="Text 15"/>
          <p:cNvSpPr/>
          <p:nvPr/>
        </p:nvSpPr>
        <p:spPr>
          <a:xfrm>
            <a:off x="916251" y="6385992"/>
            <a:ext cx="4830823" cy="1388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93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Computational Thinking</a:t>
            </a:r>
            <a:endParaRPr lang="en-US" sz="1050" dirty="0"/>
          </a:p>
        </p:txBody>
      </p:sp>
      <p:sp>
        <p:nvSpPr>
          <p:cNvPr id="43" name="Text 16"/>
          <p:cNvSpPr/>
          <p:nvPr/>
        </p:nvSpPr>
        <p:spPr>
          <a:xfrm>
            <a:off x="11164639" y="6385992"/>
            <a:ext cx="3366937" cy="1388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93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2026-03-02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6387" y="455776"/>
            <a:ext cx="1259837" cy="25637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76" y="2594672"/>
            <a:ext cx="2085708" cy="712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592" y="2708616"/>
            <a:ext cx="356075" cy="25637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5427" y="2594672"/>
            <a:ext cx="2085819" cy="7121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3655" y="2708616"/>
            <a:ext cx="249252" cy="25637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5191" y="2594672"/>
            <a:ext cx="2085708" cy="7121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3419" y="2708616"/>
            <a:ext cx="249252" cy="25637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8898" y="1454232"/>
            <a:ext cx="4567215" cy="207947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9814" y="1938493"/>
            <a:ext cx="4225384" cy="39880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5272" y="2023951"/>
            <a:ext cx="227888" cy="22788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39814" y="2451241"/>
            <a:ext cx="4225384" cy="398804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5272" y="2536699"/>
            <a:ext cx="227888" cy="227888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39814" y="2963989"/>
            <a:ext cx="4225384" cy="398804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25272" y="3049447"/>
            <a:ext cx="227888" cy="227888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5776" y="3847054"/>
            <a:ext cx="133083" cy="14243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5776" y="4188886"/>
            <a:ext cx="5526281" cy="1168704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6692" y="4359802"/>
            <a:ext cx="341832" cy="341832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1467" y="4431017"/>
            <a:ext cx="192280" cy="199402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09944" y="4188886"/>
            <a:ext cx="5526280" cy="1168704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80860" y="4359802"/>
            <a:ext cx="341831" cy="341832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55636" y="4431017"/>
            <a:ext cx="192280" cy="199402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5776" y="6117364"/>
            <a:ext cx="11280449" cy="28486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55776" y="455776"/>
            <a:ext cx="11740896" cy="45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96" kern="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 Design</a:t>
            </a:r>
            <a:endParaRPr lang="en-US" sz="3600" dirty="0"/>
          </a:p>
        </p:txBody>
      </p:sp>
      <p:sp>
        <p:nvSpPr>
          <p:cNvPr id="26" name="Text 1"/>
          <p:cNvSpPr/>
          <p:nvPr/>
        </p:nvSpPr>
        <p:spPr>
          <a:xfrm>
            <a:off x="455776" y="969970"/>
            <a:ext cx="9784080" cy="19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0"/>
              </a:lnSpc>
              <a:buNone/>
            </a:pPr>
            <a:r>
              <a:rPr lang="en-US" sz="1500" b="1" spc="160" kern="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PHASES OF COMPUTATIONAL THINKING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10647304" y="455776"/>
            <a:ext cx="2272593" cy="25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1"/>
              </a:lnSpc>
              <a:buNone/>
            </a:pPr>
            <a:r>
              <a:rPr lang="en-US" sz="1050" b="1" spc="-56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04 OF 05</a:t>
            </a:r>
            <a:endParaRPr lang="en-US" sz="1050" dirty="0"/>
          </a:p>
        </p:txBody>
      </p:sp>
      <p:sp>
        <p:nvSpPr>
          <p:cNvPr id="28" name="Text 3"/>
          <p:cNvSpPr/>
          <p:nvPr/>
        </p:nvSpPr>
        <p:spPr>
          <a:xfrm>
            <a:off x="455776" y="1681118"/>
            <a:ext cx="6485234" cy="74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925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Developing </a:t>
            </a:r>
            <a:pPr indent="0" marL="0">
              <a:lnSpc>
                <a:spcPts val="2925"/>
              </a:lnSpc>
              <a:buNone/>
            </a:pPr>
            <a:r>
              <a:rPr lang="en-US" sz="1800" b="1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precise, step-by-step procedures</a:t>
            </a:r>
            <a:pPr indent="0" marL="0">
              <a:lnSpc>
                <a:spcPts val="2925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automate problem-solving and ensure consistent scientific results.</a:t>
            </a:r>
            <a:endParaRPr lang="en-US" sz="1800" dirty="0"/>
          </a:p>
        </p:txBody>
      </p:sp>
      <p:sp>
        <p:nvSpPr>
          <p:cNvPr id="29" name="Text 4"/>
          <p:cNvSpPr/>
          <p:nvPr/>
        </p:nvSpPr>
        <p:spPr>
          <a:xfrm>
            <a:off x="1121190" y="3050448"/>
            <a:ext cx="2140268" cy="14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1"/>
              </a:lnSpc>
              <a:buNone/>
            </a:pPr>
            <a:r>
              <a:rPr lang="en-US" sz="105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Automation</a:t>
            </a:r>
            <a:endParaRPr lang="en-US" sz="1050" dirty="0"/>
          </a:p>
        </p:txBody>
      </p:sp>
      <p:sp>
        <p:nvSpPr>
          <p:cNvPr id="30" name="Text 5"/>
          <p:cNvSpPr/>
          <p:nvPr/>
        </p:nvSpPr>
        <p:spPr>
          <a:xfrm>
            <a:off x="3317282" y="3050448"/>
            <a:ext cx="2354294" cy="14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1"/>
              </a:lnSpc>
              <a:buNone/>
            </a:pPr>
            <a:r>
              <a:rPr lang="en-US" sz="105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Consistency</a:t>
            </a:r>
            <a:endParaRPr lang="en-US" sz="1050" dirty="0"/>
          </a:p>
        </p:txBody>
      </p:sp>
      <p:sp>
        <p:nvSpPr>
          <p:cNvPr id="31" name="Text 6"/>
          <p:cNvSpPr/>
          <p:nvPr/>
        </p:nvSpPr>
        <p:spPr>
          <a:xfrm>
            <a:off x="5595381" y="3050448"/>
            <a:ext cx="2140268" cy="14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1"/>
              </a:lnSpc>
              <a:buNone/>
            </a:pPr>
            <a:r>
              <a:rPr lang="en-US" sz="105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Efficiency</a:t>
            </a:r>
            <a:endParaRPr lang="en-US" sz="1050" dirty="0"/>
          </a:p>
        </p:txBody>
      </p:sp>
      <p:sp>
        <p:nvSpPr>
          <p:cNvPr id="32" name="Text 7"/>
          <p:cNvSpPr/>
          <p:nvPr/>
        </p:nvSpPr>
        <p:spPr>
          <a:xfrm>
            <a:off x="7339814" y="1625147"/>
            <a:ext cx="4225384" cy="19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0"/>
              </a:lnSpc>
              <a:buNone/>
            </a:pPr>
            <a:r>
              <a:rPr lang="en-US" sz="1350" b="1" spc="72" kern="0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LOGIC FLOW</a:t>
            </a:r>
            <a:endParaRPr lang="en-US" sz="1350" dirty="0"/>
          </a:p>
        </p:txBody>
      </p:sp>
      <p:sp>
        <p:nvSpPr>
          <p:cNvPr id="33" name="Text 8"/>
          <p:cNvSpPr/>
          <p:nvPr/>
        </p:nvSpPr>
        <p:spPr>
          <a:xfrm>
            <a:off x="7482244" y="2023951"/>
            <a:ext cx="366903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97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</a:t>
            </a:r>
            <a:endParaRPr lang="en-US" sz="900" dirty="0"/>
          </a:p>
        </p:txBody>
      </p:sp>
      <p:sp>
        <p:nvSpPr>
          <p:cNvPr id="34" name="Text 9"/>
          <p:cNvSpPr/>
          <p:nvPr/>
        </p:nvSpPr>
        <p:spPr>
          <a:xfrm>
            <a:off x="7767103" y="2066680"/>
            <a:ext cx="6634829" cy="14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1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 Data / Initial Conditions</a:t>
            </a:r>
            <a:endParaRPr lang="en-US" sz="1050" dirty="0"/>
          </a:p>
        </p:txBody>
      </p:sp>
      <p:sp>
        <p:nvSpPr>
          <p:cNvPr id="35" name="Text 10"/>
          <p:cNvSpPr/>
          <p:nvPr/>
        </p:nvSpPr>
        <p:spPr>
          <a:xfrm>
            <a:off x="7432393" y="2536699"/>
            <a:ext cx="550355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97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</a:t>
            </a:r>
            <a:endParaRPr lang="en-US" sz="900" dirty="0"/>
          </a:p>
        </p:txBody>
      </p:sp>
      <p:sp>
        <p:nvSpPr>
          <p:cNvPr id="36" name="Text 11"/>
          <p:cNvSpPr/>
          <p:nvPr/>
        </p:nvSpPr>
        <p:spPr>
          <a:xfrm>
            <a:off x="7767103" y="2579428"/>
            <a:ext cx="5992749" cy="14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1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Computational Method / Steps</a:t>
            </a:r>
            <a:endParaRPr lang="en-US" sz="1050" dirty="0"/>
          </a:p>
        </p:txBody>
      </p:sp>
      <p:sp>
        <p:nvSpPr>
          <p:cNvPr id="37" name="Text 12"/>
          <p:cNvSpPr/>
          <p:nvPr/>
        </p:nvSpPr>
        <p:spPr>
          <a:xfrm>
            <a:off x="7421711" y="3049447"/>
            <a:ext cx="550355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97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</a:t>
            </a:r>
            <a:endParaRPr lang="en-US" sz="900" dirty="0"/>
          </a:p>
        </p:txBody>
      </p:sp>
      <p:sp>
        <p:nvSpPr>
          <p:cNvPr id="38" name="Text 13"/>
          <p:cNvSpPr/>
          <p:nvPr/>
        </p:nvSpPr>
        <p:spPr>
          <a:xfrm>
            <a:off x="7767103" y="3092176"/>
            <a:ext cx="4494562" cy="14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1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Results / Predictions</a:t>
            </a:r>
            <a:endParaRPr lang="en-US" sz="1050" dirty="0"/>
          </a:p>
        </p:txBody>
      </p:sp>
      <p:sp>
        <p:nvSpPr>
          <p:cNvPr id="39" name="Text 14"/>
          <p:cNvSpPr/>
          <p:nvPr/>
        </p:nvSpPr>
        <p:spPr>
          <a:xfrm>
            <a:off x="674317" y="3818568"/>
            <a:ext cx="11280449" cy="19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0"/>
              </a:lnSpc>
              <a:buNone/>
            </a:pPr>
            <a:r>
              <a:rPr lang="en-US" sz="1500" b="1" spc="160" kern="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DOMAIN-SPECIFIC APPLICATIONS</a:t>
            </a:r>
            <a:endParaRPr lang="en-US" sz="1500" dirty="0"/>
          </a:p>
        </p:txBody>
      </p:sp>
      <p:sp>
        <p:nvSpPr>
          <p:cNvPr id="40" name="Text 15"/>
          <p:cNvSpPr/>
          <p:nvPr/>
        </p:nvSpPr>
        <p:spPr>
          <a:xfrm>
            <a:off x="1139439" y="4359802"/>
            <a:ext cx="4671701" cy="19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0"/>
              </a:lnSpc>
              <a:buNone/>
            </a:pPr>
            <a:r>
              <a:rPr lang="en-US" sz="135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Euler Method</a:t>
            </a:r>
            <a:endParaRPr lang="en-US" sz="1350" dirty="0"/>
          </a:p>
        </p:txBody>
      </p:sp>
      <p:sp>
        <p:nvSpPr>
          <p:cNvPr id="41" name="Text 16"/>
          <p:cNvSpPr/>
          <p:nvPr/>
        </p:nvSpPr>
        <p:spPr>
          <a:xfrm>
            <a:off x="1139439" y="4587689"/>
            <a:ext cx="4671701" cy="2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1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Solving differential equations by approximating solutions through small time steps.</a:t>
            </a:r>
            <a:endParaRPr lang="en-US" sz="1050" dirty="0"/>
          </a:p>
        </p:txBody>
      </p:sp>
      <p:sp>
        <p:nvSpPr>
          <p:cNvPr id="42" name="Text 17"/>
          <p:cNvSpPr/>
          <p:nvPr/>
        </p:nvSpPr>
        <p:spPr>
          <a:xfrm>
            <a:off x="1196411" y="4986493"/>
            <a:ext cx="4878736" cy="2065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97"/>
              </a:lnSpc>
              <a:buNone/>
            </a:pPr>
            <a:r>
              <a:rPr lang="en-US" sz="900" dirty="0">
                <a:solidFill>
                  <a:srgbClr val="27AE60"/>
                </a:solidFill>
                <a:highlight>
                  <a:srgbClr val="F3F4F6"/>
                </a:highlight>
                <a:latin typeface="Fira Code" pitchFamily="34" charset="0"/>
                <a:ea typeface="Fira Code" pitchFamily="34" charset="-122"/>
                <a:cs typeface="Fira Code" pitchFamily="34" charset="-120"/>
              </a:rPr>
              <a:t>y_new = y_old + f(t, y) * dt</a:t>
            </a:r>
            <a:endParaRPr lang="en-US" sz="900" dirty="0"/>
          </a:p>
        </p:txBody>
      </p:sp>
      <p:sp>
        <p:nvSpPr>
          <p:cNvPr id="43" name="Text 18"/>
          <p:cNvSpPr/>
          <p:nvPr/>
        </p:nvSpPr>
        <p:spPr>
          <a:xfrm>
            <a:off x="6893608" y="4359802"/>
            <a:ext cx="5778722" cy="19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0"/>
              </a:lnSpc>
              <a:buNone/>
            </a:pPr>
            <a:r>
              <a:rPr lang="en-US" sz="135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Numerical Integration</a:t>
            </a:r>
            <a:endParaRPr lang="en-US" sz="1350" dirty="0"/>
          </a:p>
        </p:txBody>
      </p:sp>
      <p:sp>
        <p:nvSpPr>
          <p:cNvPr id="44" name="Text 19"/>
          <p:cNvSpPr/>
          <p:nvPr/>
        </p:nvSpPr>
        <p:spPr>
          <a:xfrm>
            <a:off x="6893608" y="4587689"/>
            <a:ext cx="4671700" cy="2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1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Calculating the area under a curve using discrete intervals (e.g., Trapezoidal rule).</a:t>
            </a:r>
            <a:endParaRPr lang="en-US" sz="1050" dirty="0"/>
          </a:p>
        </p:txBody>
      </p:sp>
      <p:sp>
        <p:nvSpPr>
          <p:cNvPr id="45" name="Text 20"/>
          <p:cNvSpPr/>
          <p:nvPr/>
        </p:nvSpPr>
        <p:spPr>
          <a:xfrm>
            <a:off x="6950579" y="4986493"/>
            <a:ext cx="4399911" cy="2065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97"/>
              </a:lnSpc>
              <a:buNone/>
            </a:pPr>
            <a:r>
              <a:rPr lang="en-US" sz="900" dirty="0">
                <a:solidFill>
                  <a:srgbClr val="27AE60"/>
                </a:solidFill>
                <a:highlight>
                  <a:srgbClr val="F3F4F6"/>
                </a:highlight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Integrate[f(x), {x, a, b}]</a:t>
            </a:r>
            <a:endParaRPr lang="en-US" sz="900" dirty="0"/>
          </a:p>
        </p:txBody>
      </p:sp>
      <p:sp>
        <p:nvSpPr>
          <p:cNvPr id="46" name="Text 21"/>
          <p:cNvSpPr/>
          <p:nvPr/>
        </p:nvSpPr>
        <p:spPr>
          <a:xfrm>
            <a:off x="455776" y="6288281"/>
            <a:ext cx="5442395" cy="1139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97"/>
              </a:lnSpc>
              <a:buNone/>
            </a:pPr>
            <a:r>
              <a:rPr lang="en-US" sz="900" b="1" spc="96" kern="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SCIENTIFIC COMPUTING — 2026</a:t>
            </a:r>
            <a:endParaRPr lang="en-US" sz="900" dirty="0"/>
          </a:p>
        </p:txBody>
      </p:sp>
      <p:sp>
        <p:nvSpPr>
          <p:cNvPr id="47" name="Text 22"/>
          <p:cNvSpPr/>
          <p:nvPr/>
        </p:nvSpPr>
        <p:spPr>
          <a:xfrm>
            <a:off x="9332386" y="6288281"/>
            <a:ext cx="5320093" cy="1139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97"/>
              </a:lnSpc>
              <a:buNone/>
            </a:pPr>
            <a:r>
              <a:rPr lang="en-US" sz="900" b="1" spc="96" kern="0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ALGORITHM DESIGN &amp;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4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90" y="355490"/>
            <a:ext cx="11480995" cy="7238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490" y="1375558"/>
            <a:ext cx="3708463" cy="152934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35" y="1553303"/>
            <a:ext cx="355490" cy="35549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7" y="1612551"/>
            <a:ext cx="229587" cy="23699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1698" y="1375558"/>
            <a:ext cx="3708463" cy="152934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9443" y="1553303"/>
            <a:ext cx="355490" cy="35549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2395" y="1612551"/>
            <a:ext cx="229587" cy="23699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7906" y="1375558"/>
            <a:ext cx="3708578" cy="152934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5651" y="1553303"/>
            <a:ext cx="355491" cy="35549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8603" y="1612551"/>
            <a:ext cx="229588" cy="236994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5490" y="3141900"/>
            <a:ext cx="5622000" cy="2873547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235" y="3337582"/>
            <a:ext cx="170339" cy="17138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235" y="3586263"/>
            <a:ext cx="5250888" cy="2073693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4484" y="3141900"/>
            <a:ext cx="5622000" cy="1654673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4484" y="4915070"/>
            <a:ext cx="5622000" cy="1100377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5490" y="6206268"/>
            <a:ext cx="11480995" cy="296242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533235" y="355490"/>
            <a:ext cx="17640290" cy="45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93" kern="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and Validation</a:t>
            </a:r>
            <a:endParaRPr lang="en-US" sz="3600" dirty="0"/>
          </a:p>
        </p:txBody>
      </p:sp>
      <p:sp>
        <p:nvSpPr>
          <p:cNvPr id="20" name="Text 1"/>
          <p:cNvSpPr/>
          <p:nvPr/>
        </p:nvSpPr>
        <p:spPr>
          <a:xfrm>
            <a:off x="533235" y="871946"/>
            <a:ext cx="11303250" cy="2073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33"/>
              </a:lnSpc>
              <a:buNone/>
            </a:pPr>
            <a:r>
              <a:rPr lang="en-US" sz="1500" spc="77" kern="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COMPUTATIONAL THINKING PHASE 5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533235" y="1997666"/>
            <a:ext cx="4998081" cy="2073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33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Empirical Testing</a:t>
            </a: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533235" y="2293908"/>
            <a:ext cx="3352972" cy="43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Comparing model predictions against real-world observational data to measure accuracy.</a:t>
            </a:r>
            <a:endParaRPr lang="en-US" sz="1050" dirty="0"/>
          </a:p>
        </p:txBody>
      </p:sp>
      <p:sp>
        <p:nvSpPr>
          <p:cNvPr id="23" name="Text 4"/>
          <p:cNvSpPr/>
          <p:nvPr/>
        </p:nvSpPr>
        <p:spPr>
          <a:xfrm>
            <a:off x="4419443" y="1997666"/>
            <a:ext cx="4998081" cy="2073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33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Assumption Review</a:t>
            </a:r>
            <a:endParaRPr lang="en-US" sz="1500" dirty="0"/>
          </a:p>
        </p:txBody>
      </p:sp>
      <p:sp>
        <p:nvSpPr>
          <p:cNvPr id="24" name="Text 5"/>
          <p:cNvSpPr/>
          <p:nvPr/>
        </p:nvSpPr>
        <p:spPr>
          <a:xfrm>
            <a:off x="4419443" y="2293908"/>
            <a:ext cx="3352972" cy="43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Validating the initial assumptions made during the abstraction and modeling phases.</a:t>
            </a:r>
            <a:endParaRPr lang="en-US" sz="1050" dirty="0"/>
          </a:p>
        </p:txBody>
      </p:sp>
      <p:sp>
        <p:nvSpPr>
          <p:cNvPr id="25" name="Text 6"/>
          <p:cNvSpPr/>
          <p:nvPr/>
        </p:nvSpPr>
        <p:spPr>
          <a:xfrm>
            <a:off x="8305651" y="1997666"/>
            <a:ext cx="5880095" cy="2073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33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Iterative Refinement</a:t>
            </a:r>
            <a:endParaRPr lang="en-US" sz="1500" dirty="0"/>
          </a:p>
        </p:txBody>
      </p:sp>
      <p:sp>
        <p:nvSpPr>
          <p:cNvPr id="26" name="Text 7"/>
          <p:cNvSpPr/>
          <p:nvPr/>
        </p:nvSpPr>
        <p:spPr>
          <a:xfrm>
            <a:off x="8305651" y="2293908"/>
            <a:ext cx="3353088" cy="43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discrepancies to adjust algorithms and improve the model's reliability.</a:t>
            </a:r>
            <a:endParaRPr lang="en-US" sz="1050" dirty="0"/>
          </a:p>
        </p:txBody>
      </p:sp>
      <p:sp>
        <p:nvSpPr>
          <p:cNvPr id="27" name="Text 8"/>
          <p:cNvSpPr/>
          <p:nvPr/>
        </p:nvSpPr>
        <p:spPr>
          <a:xfrm>
            <a:off x="762823" y="3319645"/>
            <a:ext cx="8731948" cy="2073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33"/>
              </a:lnSpc>
              <a:buNone/>
            </a:pPr>
            <a:r>
              <a:rPr lang="en-US" sz="135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Example: Climate Model Validation</a:t>
            </a:r>
            <a:endParaRPr lang="en-US" sz="1350" dirty="0"/>
          </a:p>
        </p:txBody>
      </p:sp>
      <p:sp>
        <p:nvSpPr>
          <p:cNvPr id="28" name="Text 9"/>
          <p:cNvSpPr/>
          <p:nvPr/>
        </p:nvSpPr>
        <p:spPr>
          <a:xfrm>
            <a:off x="-1949186" y="5719204"/>
            <a:ext cx="10231352" cy="11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33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Comparison of Predicted vs. Observed Temperature Anomalies</a:t>
            </a:r>
            <a:endParaRPr lang="en-US" sz="900" dirty="0"/>
          </a:p>
        </p:txBody>
      </p:sp>
      <p:sp>
        <p:nvSpPr>
          <p:cNvPr id="29" name="Text 10"/>
          <p:cNvSpPr/>
          <p:nvPr/>
        </p:nvSpPr>
        <p:spPr>
          <a:xfrm>
            <a:off x="6392229" y="3511971"/>
            <a:ext cx="5266511" cy="11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33"/>
              </a:lnSpc>
              <a:buNone/>
            </a:pPr>
            <a:r>
              <a:rPr lang="en-US" sz="900" b="1" spc="93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SCIENTIFIC MEANING</a:t>
            </a:r>
            <a:endParaRPr lang="en-US" sz="900" dirty="0"/>
          </a:p>
        </p:txBody>
      </p:sp>
      <p:sp>
        <p:nvSpPr>
          <p:cNvPr id="30" name="Text 11"/>
          <p:cNvSpPr/>
          <p:nvPr/>
        </p:nvSpPr>
        <p:spPr>
          <a:xfrm>
            <a:off x="6392229" y="3719340"/>
            <a:ext cx="5266511" cy="7071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56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"Evaluation ensures that computational results are not just numbers, but trustworthy insights that accurately reflect the physical systems being studied."</a:t>
            </a:r>
            <a:endParaRPr lang="en-US" sz="1350" dirty="0"/>
          </a:p>
        </p:txBody>
      </p:sp>
      <p:sp>
        <p:nvSpPr>
          <p:cNvPr id="31" name="Text 12"/>
          <p:cNvSpPr/>
          <p:nvPr/>
        </p:nvSpPr>
        <p:spPr>
          <a:xfrm>
            <a:off x="6392229" y="5092815"/>
            <a:ext cx="6585719" cy="2285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Question for Scientists:</a:t>
            </a:r>
            <a:endParaRPr lang="en-US" sz="1200" dirty="0"/>
          </a:p>
        </p:txBody>
      </p:sp>
      <p:sp>
        <p:nvSpPr>
          <p:cNvPr id="32" name="Text 13"/>
          <p:cNvSpPr/>
          <p:nvPr/>
        </p:nvSpPr>
        <p:spPr>
          <a:xfrm>
            <a:off x="6392229" y="5380609"/>
            <a:ext cx="5266511" cy="45709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"Does the output of my code align with the physical reality observed in the field?"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355490" y="6384013"/>
            <a:ext cx="10054949" cy="11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33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Scientific Computing — Computational Thinking Foundations</a:t>
            </a:r>
            <a:endParaRPr lang="en-US" sz="900" dirty="0"/>
          </a:p>
        </p:txBody>
      </p:sp>
      <p:sp>
        <p:nvSpPr>
          <p:cNvPr id="34" name="Text 15"/>
          <p:cNvSpPr/>
          <p:nvPr/>
        </p:nvSpPr>
        <p:spPr>
          <a:xfrm>
            <a:off x="11125503" y="6384013"/>
            <a:ext cx="2940044" cy="11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33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12 of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03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60" y="380560"/>
            <a:ext cx="11430785" cy="74266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560" y="1440353"/>
            <a:ext cx="3683325" cy="163050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66" y="1694060"/>
            <a:ext cx="253706" cy="25370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4165" y="1440353"/>
            <a:ext cx="3683449" cy="163050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7871" y="1694060"/>
            <a:ext cx="229921" cy="25370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7895" y="1440353"/>
            <a:ext cx="3683325" cy="163050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1601" y="1694060"/>
            <a:ext cx="229921" cy="25370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560" y="3324569"/>
            <a:ext cx="5588477" cy="28040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266" y="3888471"/>
            <a:ext cx="229921" cy="22843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266" y="5287201"/>
            <a:ext cx="1339887" cy="28542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1006" y="5287201"/>
            <a:ext cx="1419170" cy="28542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47029" y="5287201"/>
            <a:ext cx="1339887" cy="28542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22743" y="3324569"/>
            <a:ext cx="5588601" cy="280402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6449" y="3863695"/>
            <a:ext cx="253706" cy="253706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6449" y="4447666"/>
            <a:ext cx="253706" cy="253706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6449" y="5031636"/>
            <a:ext cx="253706" cy="253706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0560" y="6128594"/>
            <a:ext cx="11430785" cy="348846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947156" y="6331509"/>
            <a:ext cx="118925" cy="133295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570839" y="380560"/>
            <a:ext cx="17137390" cy="4572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87" kern="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for Scientific Work</a:t>
            </a: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570839" y="901227"/>
            <a:ext cx="11240505" cy="221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48"/>
              </a:lnSpc>
              <a:buNone/>
            </a:pPr>
            <a:r>
              <a:rPr lang="en-US" sz="1500" b="1" spc="144" kern="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EFFICIENCY THROUGH SIMPLICITY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1014825" y="1709916"/>
            <a:ext cx="4668842" cy="221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48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Readability First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634266" y="2074619"/>
            <a:ext cx="3175913" cy="7425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Python’s syntax mirrors natural language, allowing researchers to express complex ideas in fewer lines of code.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4864646" y="1709916"/>
            <a:ext cx="5218117" cy="221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48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Minimal Boilerplate</a:t>
            </a:r>
            <a:endParaRPr lang="en-US" sz="1500" dirty="0"/>
          </a:p>
        </p:txBody>
      </p:sp>
      <p:sp>
        <p:nvSpPr>
          <p:cNvPr id="26" name="Text 5"/>
          <p:cNvSpPr/>
          <p:nvPr/>
        </p:nvSpPr>
        <p:spPr>
          <a:xfrm>
            <a:off x="4507871" y="2074619"/>
            <a:ext cx="3176037" cy="7425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program does, not how to manage memory or low-level data structures.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8738375" y="1709916"/>
            <a:ext cx="4943480" cy="221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48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High-Level Control</a:t>
            </a:r>
            <a:endParaRPr lang="en-US" sz="1500" dirty="0"/>
          </a:p>
        </p:txBody>
      </p:sp>
      <p:sp>
        <p:nvSpPr>
          <p:cNvPr id="28" name="Text 7"/>
          <p:cNvSpPr/>
          <p:nvPr/>
        </p:nvSpPr>
        <p:spPr>
          <a:xfrm>
            <a:off x="8381601" y="2074619"/>
            <a:ext cx="3175913" cy="7425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powerful abstractions while maintaining the ability to interface with high-performance C/C++ libraries.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959327" y="3880543"/>
            <a:ext cx="10216503" cy="25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98"/>
              </a:lnSpc>
              <a:buNone/>
            </a:pPr>
            <a:r>
              <a:rPr lang="en-US" sz="1800" b="1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"Scientist-First" Language</a:t>
            </a:r>
            <a:endParaRPr lang="en-US" sz="1800" dirty="0"/>
          </a:p>
        </p:txBody>
      </p:sp>
      <p:sp>
        <p:nvSpPr>
          <p:cNvPr id="30" name="Text 9"/>
          <p:cNvSpPr/>
          <p:nvPr/>
        </p:nvSpPr>
        <p:spPr>
          <a:xfrm>
            <a:off x="634266" y="4261102"/>
            <a:ext cx="5081064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is designed to reduce the </a:t>
            </a:r>
            <a:pPr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cognitive load</a:t>
            </a:r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 researchers. It enables a seamless transition from a scientific hypothesis to a computational experiment.</a:t>
            </a:r>
            <a:endParaRPr lang="en-US" sz="1350" dirty="0"/>
          </a:p>
        </p:txBody>
      </p:sp>
      <p:sp>
        <p:nvSpPr>
          <p:cNvPr id="31" name="Text 10"/>
          <p:cNvSpPr/>
          <p:nvPr/>
        </p:nvSpPr>
        <p:spPr>
          <a:xfrm>
            <a:off x="761119" y="5287201"/>
            <a:ext cx="2524726" cy="2854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Rapid Prototyping</a:t>
            </a:r>
            <a:endParaRPr lang="en-US" sz="1050" dirty="0"/>
          </a:p>
        </p:txBody>
      </p:sp>
      <p:sp>
        <p:nvSpPr>
          <p:cNvPr id="32" name="Text 11"/>
          <p:cNvSpPr/>
          <p:nvPr/>
        </p:nvSpPr>
        <p:spPr>
          <a:xfrm>
            <a:off x="2227859" y="5287201"/>
            <a:ext cx="3019129" cy="2854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Analysis</a:t>
            </a:r>
            <a:endParaRPr lang="en-US" sz="1050" dirty="0"/>
          </a:p>
        </p:txBody>
      </p:sp>
      <p:sp>
        <p:nvSpPr>
          <p:cNvPr id="33" name="Text 12"/>
          <p:cNvSpPr/>
          <p:nvPr/>
        </p:nvSpPr>
        <p:spPr>
          <a:xfrm>
            <a:off x="3773882" y="5287201"/>
            <a:ext cx="2079186" cy="2854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Community</a:t>
            </a:r>
            <a:endParaRPr lang="en-US" sz="1050" dirty="0"/>
          </a:p>
        </p:txBody>
      </p:sp>
      <p:sp>
        <p:nvSpPr>
          <p:cNvPr id="34" name="Text 13"/>
          <p:cNvSpPr/>
          <p:nvPr/>
        </p:nvSpPr>
        <p:spPr>
          <a:xfrm>
            <a:off x="6476449" y="3578275"/>
            <a:ext cx="5081188" cy="15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9"/>
              </a:lnSpc>
              <a:buNone/>
            </a:pPr>
            <a:r>
              <a:rPr lang="en-US" sz="1050" b="1" spc="-50" kern="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PYTHON EXPERIENCE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6539876" y="3863695"/>
            <a:ext cx="549276" cy="25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99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900" dirty="0"/>
          </a:p>
        </p:txBody>
      </p:sp>
      <p:sp>
        <p:nvSpPr>
          <p:cNvPr id="36" name="Text 15"/>
          <p:cNvSpPr/>
          <p:nvPr/>
        </p:nvSpPr>
        <p:spPr>
          <a:xfrm>
            <a:off x="6857009" y="3863695"/>
            <a:ext cx="4174485" cy="22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Intuitive Workflows</a:t>
            </a:r>
            <a:endParaRPr lang="en-US" sz="1200" dirty="0"/>
          </a:p>
        </p:txBody>
      </p:sp>
      <p:sp>
        <p:nvSpPr>
          <p:cNvPr id="37" name="Text 16"/>
          <p:cNvSpPr/>
          <p:nvPr/>
        </p:nvSpPr>
        <p:spPr>
          <a:xfrm>
            <a:off x="6857009" y="4116039"/>
            <a:ext cx="10765762" cy="1823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Easily integrate data loading, processing, and plotting.</a:t>
            </a:r>
            <a:endParaRPr lang="en-US" sz="1050" dirty="0"/>
          </a:p>
        </p:txBody>
      </p:sp>
      <p:sp>
        <p:nvSpPr>
          <p:cNvPr id="38" name="Text 17"/>
          <p:cNvSpPr/>
          <p:nvPr/>
        </p:nvSpPr>
        <p:spPr>
          <a:xfrm>
            <a:off x="6539876" y="4447666"/>
            <a:ext cx="549276" cy="25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99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900" dirty="0"/>
          </a:p>
        </p:txBody>
      </p:sp>
      <p:sp>
        <p:nvSpPr>
          <p:cNvPr id="39" name="Text 18"/>
          <p:cNvSpPr/>
          <p:nvPr/>
        </p:nvSpPr>
        <p:spPr>
          <a:xfrm>
            <a:off x="6857009" y="4447666"/>
            <a:ext cx="5273034" cy="22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Integrated Documentation</a:t>
            </a:r>
            <a:endParaRPr lang="en-US" sz="1200" dirty="0"/>
          </a:p>
        </p:txBody>
      </p:sp>
      <p:sp>
        <p:nvSpPr>
          <p:cNvPr id="40" name="Text 19"/>
          <p:cNvSpPr/>
          <p:nvPr/>
        </p:nvSpPr>
        <p:spPr>
          <a:xfrm>
            <a:off x="6857009" y="4700009"/>
            <a:ext cx="10573516" cy="18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 narrative, math (LaTeX), and code in one place.</a:t>
            </a:r>
            <a:endParaRPr lang="en-US" sz="1050" dirty="0"/>
          </a:p>
        </p:txBody>
      </p:sp>
      <p:sp>
        <p:nvSpPr>
          <p:cNvPr id="41" name="Text 20"/>
          <p:cNvSpPr/>
          <p:nvPr/>
        </p:nvSpPr>
        <p:spPr>
          <a:xfrm>
            <a:off x="6539876" y="5031636"/>
            <a:ext cx="549276" cy="25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99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900" dirty="0"/>
          </a:p>
        </p:txBody>
      </p:sp>
      <p:sp>
        <p:nvSpPr>
          <p:cNvPr id="42" name="Text 21"/>
          <p:cNvSpPr/>
          <p:nvPr/>
        </p:nvSpPr>
        <p:spPr>
          <a:xfrm>
            <a:off x="6857009" y="5031636"/>
            <a:ext cx="3735066" cy="22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Vibrant Ecosystem</a:t>
            </a:r>
            <a:endParaRPr lang="en-US" sz="1200" dirty="0"/>
          </a:p>
        </p:txBody>
      </p:sp>
      <p:sp>
        <p:nvSpPr>
          <p:cNvPr id="43" name="Text 22"/>
          <p:cNvSpPr/>
          <p:nvPr/>
        </p:nvSpPr>
        <p:spPr>
          <a:xfrm>
            <a:off x="6857009" y="5283980"/>
            <a:ext cx="10958007" cy="18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 thousands of specialized libraries for any domain.</a:t>
            </a:r>
            <a:endParaRPr lang="en-US" sz="1050" dirty="0"/>
          </a:p>
        </p:txBody>
      </p:sp>
      <p:sp>
        <p:nvSpPr>
          <p:cNvPr id="44" name="Text 23"/>
          <p:cNvSpPr/>
          <p:nvPr/>
        </p:nvSpPr>
        <p:spPr>
          <a:xfrm>
            <a:off x="380560" y="6318874"/>
            <a:ext cx="9484123" cy="15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Foundations of Scientific Computing — Lecture 01</a:t>
            </a:r>
            <a:endParaRPr lang="en-US" sz="1050" dirty="0"/>
          </a:p>
        </p:txBody>
      </p:sp>
      <p:sp>
        <p:nvSpPr>
          <p:cNvPr id="45" name="Text 24"/>
          <p:cNvSpPr/>
          <p:nvPr/>
        </p:nvSpPr>
        <p:spPr>
          <a:xfrm>
            <a:off x="11129508" y="6318874"/>
            <a:ext cx="2627358" cy="15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13/25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17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328" y="382328"/>
            <a:ext cx="11427262" cy="74399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328" y="1458122"/>
            <a:ext cx="254885" cy="228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328" y="1954699"/>
            <a:ext cx="3670942" cy="95581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491" y="2177724"/>
            <a:ext cx="334537" cy="42775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073" y="2273306"/>
            <a:ext cx="143373" cy="22302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4433" y="1954699"/>
            <a:ext cx="3671066" cy="95581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5597" y="2177724"/>
            <a:ext cx="382328" cy="42775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1179" y="2273306"/>
            <a:ext cx="191164" cy="22302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2328" y="3101682"/>
            <a:ext cx="3670942" cy="955819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3491" y="3324706"/>
            <a:ext cx="334537" cy="427754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9073" y="3420288"/>
            <a:ext cx="143373" cy="223024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44433" y="3101682"/>
            <a:ext cx="3671066" cy="955819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5597" y="3324706"/>
            <a:ext cx="358432" cy="427754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31179" y="3420288"/>
            <a:ext cx="167268" cy="223024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2328" y="5030744"/>
            <a:ext cx="7533172" cy="839577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70384" y="1458122"/>
            <a:ext cx="254885" cy="2285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70384" y="1890978"/>
            <a:ext cx="3639081" cy="65252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97827" y="2224892"/>
            <a:ext cx="2538147" cy="63721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97827" y="2352335"/>
            <a:ext cx="1692098" cy="63721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70384" y="2670941"/>
            <a:ext cx="3639081" cy="716242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70384" y="3514626"/>
            <a:ext cx="3639081" cy="2355695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818674" y="4565031"/>
            <a:ext cx="342501" cy="318606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2328" y="6125206"/>
            <a:ext cx="11427262" cy="350467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573491" y="382328"/>
            <a:ext cx="15745968" cy="4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86" kern="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Environments</a:t>
            </a:r>
            <a:endParaRPr lang="en-US" sz="3600" dirty="0"/>
          </a:p>
        </p:txBody>
      </p:sp>
      <p:sp>
        <p:nvSpPr>
          <p:cNvPr id="27" name="Text 1"/>
          <p:cNvSpPr/>
          <p:nvPr/>
        </p:nvSpPr>
        <p:spPr>
          <a:xfrm>
            <a:off x="573491" y="903299"/>
            <a:ext cx="11236098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56"/>
              </a:lnSpc>
              <a:buNone/>
            </a:pPr>
            <a:r>
              <a:rPr lang="en-US" sz="1500" b="1" spc="72" kern="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JUPYTER NOTEBOOKS &amp; GOOGLE COLAB</a:t>
            </a:r>
            <a:endParaRPr lang="en-US" sz="1500" dirty="0"/>
          </a:p>
        </p:txBody>
      </p:sp>
      <p:sp>
        <p:nvSpPr>
          <p:cNvPr id="28" name="Text 2"/>
          <p:cNvSpPr/>
          <p:nvPr/>
        </p:nvSpPr>
        <p:spPr>
          <a:xfrm>
            <a:off x="732794" y="1444929"/>
            <a:ext cx="7544943" cy="25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07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Integrated Workflow</a:t>
            </a:r>
            <a:endParaRPr lang="en-US" sz="1800" dirty="0"/>
          </a:p>
        </p:txBody>
      </p:sp>
      <p:sp>
        <p:nvSpPr>
          <p:cNvPr id="29" name="Text 3"/>
          <p:cNvSpPr/>
          <p:nvPr/>
        </p:nvSpPr>
        <p:spPr>
          <a:xfrm>
            <a:off x="1035470" y="2145863"/>
            <a:ext cx="4674584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56"/>
              </a:lnSpc>
              <a:buNone/>
            </a:pPr>
            <a:r>
              <a:rPr lang="en-US" sz="135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Iterative Execution</a:t>
            </a:r>
            <a:endParaRPr lang="en-US" sz="1350" dirty="0"/>
          </a:p>
        </p:txBody>
      </p:sp>
      <p:sp>
        <p:nvSpPr>
          <p:cNvPr id="30" name="Text 4"/>
          <p:cNvSpPr/>
          <p:nvPr/>
        </p:nvSpPr>
        <p:spPr>
          <a:xfrm>
            <a:off x="1035470" y="2400748"/>
            <a:ext cx="2826635" cy="31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54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code cells individually to test, debug, and refine components in real-time.</a:t>
            </a:r>
            <a:endParaRPr lang="en-US" sz="1050" dirty="0"/>
          </a:p>
        </p:txBody>
      </p:sp>
      <p:sp>
        <p:nvSpPr>
          <p:cNvPr id="31" name="Text 5"/>
          <p:cNvSpPr/>
          <p:nvPr/>
        </p:nvSpPr>
        <p:spPr>
          <a:xfrm>
            <a:off x="4945367" y="2145863"/>
            <a:ext cx="4428553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56"/>
              </a:lnSpc>
              <a:buNone/>
            </a:pPr>
            <a:r>
              <a:rPr lang="en-US" sz="135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Visualization</a:t>
            </a:r>
            <a:endParaRPr lang="en-US" sz="1350" dirty="0"/>
          </a:p>
        </p:txBody>
      </p:sp>
      <p:sp>
        <p:nvSpPr>
          <p:cNvPr id="32" name="Text 6"/>
          <p:cNvSpPr/>
          <p:nvPr/>
        </p:nvSpPr>
        <p:spPr>
          <a:xfrm>
            <a:off x="4945367" y="2400748"/>
            <a:ext cx="2778969" cy="31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54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Display results (plots, tables, messages) immediately below the generating code.</a:t>
            </a:r>
            <a:endParaRPr lang="en-US" sz="1050" dirty="0"/>
          </a:p>
        </p:txBody>
      </p:sp>
      <p:sp>
        <p:nvSpPr>
          <p:cNvPr id="33" name="Text 7"/>
          <p:cNvSpPr/>
          <p:nvPr/>
        </p:nvSpPr>
        <p:spPr>
          <a:xfrm>
            <a:off x="1035470" y="3292846"/>
            <a:ext cx="4182523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56"/>
              </a:lnSpc>
              <a:buNone/>
            </a:pPr>
            <a:r>
              <a:rPr lang="en-US" sz="135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Narrative Context</a:t>
            </a:r>
            <a:endParaRPr lang="en-US" sz="1350" dirty="0"/>
          </a:p>
        </p:txBody>
      </p:sp>
      <p:sp>
        <p:nvSpPr>
          <p:cNvPr id="34" name="Text 8"/>
          <p:cNvSpPr/>
          <p:nvPr/>
        </p:nvSpPr>
        <p:spPr>
          <a:xfrm>
            <a:off x="1035470" y="3547731"/>
            <a:ext cx="2826635" cy="31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54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Mix code with rich text, equations, and figures for comprehensive documentation.</a:t>
            </a:r>
            <a:endParaRPr lang="en-US" sz="1050" dirty="0"/>
          </a:p>
        </p:txBody>
      </p:sp>
      <p:sp>
        <p:nvSpPr>
          <p:cNvPr id="35" name="Text 9"/>
          <p:cNvSpPr/>
          <p:nvPr/>
        </p:nvSpPr>
        <p:spPr>
          <a:xfrm>
            <a:off x="4921471" y="3292846"/>
            <a:ext cx="3936492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56"/>
              </a:lnSpc>
              <a:buNone/>
            </a:pPr>
            <a:r>
              <a:rPr lang="en-US" sz="135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Seamless Sharing</a:t>
            </a:r>
            <a:endParaRPr lang="en-US" sz="1350" dirty="0"/>
          </a:p>
        </p:txBody>
      </p:sp>
      <p:sp>
        <p:nvSpPr>
          <p:cNvPr id="36" name="Text 10"/>
          <p:cNvSpPr/>
          <p:nvPr/>
        </p:nvSpPr>
        <p:spPr>
          <a:xfrm>
            <a:off x="4921471" y="3547731"/>
            <a:ext cx="2802864" cy="31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54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Distribute entire analyses as a single file, ensuring others can reproduce your work.</a:t>
            </a:r>
            <a:endParaRPr lang="en-US" sz="1050" dirty="0"/>
          </a:p>
        </p:txBody>
      </p:sp>
      <p:sp>
        <p:nvSpPr>
          <p:cNvPr id="37" name="Text 11"/>
          <p:cNvSpPr/>
          <p:nvPr/>
        </p:nvSpPr>
        <p:spPr>
          <a:xfrm>
            <a:off x="573491" y="5221907"/>
            <a:ext cx="7150844" cy="4572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"This integration of code, output, and documentation makes notebooks ideal for teaching, collaboration, and reproducible research."</a:t>
            </a:r>
            <a:endParaRPr lang="en-US" sz="1200" dirty="0"/>
          </a:p>
        </p:txBody>
      </p:sp>
      <p:sp>
        <p:nvSpPr>
          <p:cNvPr id="38" name="Text 12"/>
          <p:cNvSpPr/>
          <p:nvPr/>
        </p:nvSpPr>
        <p:spPr>
          <a:xfrm>
            <a:off x="8520851" y="1444929"/>
            <a:ext cx="5248656" cy="25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07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Notebook Anatomy</a:t>
            </a:r>
            <a:endParaRPr lang="en-US" sz="1800" dirty="0"/>
          </a:p>
        </p:txBody>
      </p:sp>
      <p:sp>
        <p:nvSpPr>
          <p:cNvPr id="39" name="Text 13"/>
          <p:cNvSpPr/>
          <p:nvPr/>
        </p:nvSpPr>
        <p:spPr>
          <a:xfrm>
            <a:off x="8297827" y="2018421"/>
            <a:ext cx="3384196" cy="1427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spc="72" kern="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MARKDOWN CELL</a:t>
            </a:r>
            <a:endParaRPr lang="en-US" sz="750" dirty="0"/>
          </a:p>
        </p:txBody>
      </p:sp>
      <p:sp>
        <p:nvSpPr>
          <p:cNvPr id="40" name="Text 14"/>
          <p:cNvSpPr/>
          <p:nvPr/>
        </p:nvSpPr>
        <p:spPr>
          <a:xfrm>
            <a:off x="8297827" y="2798384"/>
            <a:ext cx="3384196" cy="1427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spc="72" kern="0" dirty="0">
                <a:solidFill>
                  <a:srgbClr val="60A5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CODE CELL</a:t>
            </a:r>
            <a:endParaRPr lang="en-US" sz="750" dirty="0"/>
          </a:p>
        </p:txBody>
      </p:sp>
      <p:sp>
        <p:nvSpPr>
          <p:cNvPr id="41" name="Text 15"/>
          <p:cNvSpPr/>
          <p:nvPr/>
        </p:nvSpPr>
        <p:spPr>
          <a:xfrm>
            <a:off x="8297827" y="3004856"/>
            <a:ext cx="3384196" cy="25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03"/>
              </a:lnSpc>
              <a:buNone/>
            </a:pPr>
            <a:r>
              <a:rPr lang="en-US" sz="900" dirty="0">
                <a:solidFill>
                  <a:srgbClr val="C084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import</a:t>
            </a:r>
            <a:pPr indent="0" marL="0">
              <a:lnSpc>
                <a:spcPts val="1003"/>
              </a:lnSpc>
              <a:buNone/>
            </a:pPr>
            <a:r>
              <a:rPr lang="en-US" sz="900" dirty="0">
                <a:solidFill>
                  <a:srgbClr val="DBEA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numpy </a:t>
            </a:r>
            <a:pPr indent="0" marL="0">
              <a:lnSpc>
                <a:spcPts val="1003"/>
              </a:lnSpc>
              <a:buNone/>
            </a:pPr>
            <a:r>
              <a:rPr lang="en-US" sz="900" dirty="0">
                <a:solidFill>
                  <a:srgbClr val="C084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as</a:t>
            </a:r>
            <a:pPr indent="0" marL="0">
              <a:lnSpc>
                <a:spcPts val="1003"/>
              </a:lnSpc>
              <a:buNone/>
            </a:pPr>
            <a:r>
              <a:rPr lang="en-US" sz="900" dirty="0">
                <a:solidFill>
                  <a:srgbClr val="DBEA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np</a:t>
            </a:r>
            <a:pPr indent="0" marL="0">
              <a:lnSpc>
                <a:spcPts val="1003"/>
              </a:lnSpc>
              <a:buNone/>
            </a:pPr>
            <a:r>
              <a:rPr lang="en-US" sz="900" dirty="0">
                <a:solidFill>
                  <a:srgbClr val="DBEA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
</a:t>
            </a:r>
            <a:pPr indent="0" marL="0">
              <a:lnSpc>
                <a:spcPts val="1003"/>
              </a:lnSpc>
              <a:buNone/>
            </a:pPr>
            <a:r>
              <a:rPr lang="en-US" sz="900" dirty="0">
                <a:solidFill>
                  <a:srgbClr val="DBEA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y = h0 - </a:t>
            </a:r>
            <a:pPr indent="0" marL="0">
              <a:lnSpc>
                <a:spcPts val="1003"/>
              </a:lnSpc>
              <a:buNone/>
            </a:pPr>
            <a:r>
              <a:rPr lang="en-US" sz="900" dirty="0">
                <a:solidFill>
                  <a:srgbClr val="FDBA7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0.5</a:t>
            </a:r>
            <a:pPr indent="0" marL="0">
              <a:lnSpc>
                <a:spcPts val="1003"/>
              </a:lnSpc>
              <a:buNone/>
            </a:pPr>
            <a:r>
              <a:rPr lang="en-US" sz="900" dirty="0">
                <a:solidFill>
                  <a:srgbClr val="DBEA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* g * t**</a:t>
            </a:r>
            <a:pPr indent="0" marL="0">
              <a:lnSpc>
                <a:spcPts val="1003"/>
              </a:lnSpc>
              <a:buNone/>
            </a:pPr>
            <a:r>
              <a:rPr lang="en-US" sz="900" dirty="0">
                <a:solidFill>
                  <a:srgbClr val="FDBA7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</a:t>
            </a:r>
            <a:endParaRPr lang="en-US" sz="900" dirty="0"/>
          </a:p>
        </p:txBody>
      </p:sp>
      <p:sp>
        <p:nvSpPr>
          <p:cNvPr id="42" name="Text 16"/>
          <p:cNvSpPr/>
          <p:nvPr/>
        </p:nvSpPr>
        <p:spPr>
          <a:xfrm>
            <a:off x="8297827" y="4294838"/>
            <a:ext cx="1503517" cy="1427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spc="72" kern="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OUTPUT CELL</a:t>
            </a:r>
            <a:endParaRPr lang="en-US" sz="750" dirty="0"/>
          </a:p>
        </p:txBody>
      </p:sp>
      <p:sp>
        <p:nvSpPr>
          <p:cNvPr id="43" name="Text 17"/>
          <p:cNvSpPr/>
          <p:nvPr/>
        </p:nvSpPr>
        <p:spPr>
          <a:xfrm>
            <a:off x="9571754" y="4947358"/>
            <a:ext cx="2186934" cy="1427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PLOT</a:t>
            </a:r>
            <a:endParaRPr lang="en-US" sz="750" dirty="0"/>
          </a:p>
        </p:txBody>
      </p:sp>
      <p:sp>
        <p:nvSpPr>
          <p:cNvPr id="44" name="Text 18"/>
          <p:cNvSpPr/>
          <p:nvPr/>
        </p:nvSpPr>
        <p:spPr>
          <a:xfrm>
            <a:off x="382328" y="6316370"/>
            <a:ext cx="9376524" cy="15930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54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Scientific Computing — Python for Scientific Work</a:t>
            </a:r>
            <a:endParaRPr lang="en-US" sz="1050" dirty="0"/>
          </a:p>
        </p:txBody>
      </p:sp>
      <p:sp>
        <p:nvSpPr>
          <p:cNvPr id="45" name="Text 19"/>
          <p:cNvSpPr/>
          <p:nvPr/>
        </p:nvSpPr>
        <p:spPr>
          <a:xfrm>
            <a:off x="10487374" y="6316370"/>
            <a:ext cx="4592583" cy="15930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54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01 • Section 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3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56" y="531513"/>
            <a:ext cx="354342" cy="2952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56" y="2353977"/>
            <a:ext cx="5505340" cy="151033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85" y="2590205"/>
            <a:ext cx="524131" cy="53116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799" y="2708320"/>
            <a:ext cx="287903" cy="26575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4024" y="2353977"/>
            <a:ext cx="5505456" cy="151033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0253" y="2590205"/>
            <a:ext cx="524131" cy="53116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8367" y="2708320"/>
            <a:ext cx="287903" cy="26575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456" y="4100543"/>
            <a:ext cx="5505340" cy="151033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685" y="4336772"/>
            <a:ext cx="524131" cy="531167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6799" y="4454886"/>
            <a:ext cx="287903" cy="265757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4024" y="4100543"/>
            <a:ext cx="5505456" cy="151033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50253" y="4336772"/>
            <a:ext cx="590570" cy="531167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68367" y="4454886"/>
            <a:ext cx="354342" cy="265757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2456" y="6031202"/>
            <a:ext cx="11247024" cy="354342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17408" y="6208372"/>
            <a:ext cx="1202134" cy="177171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944913" y="472456"/>
            <a:ext cx="3303526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3"/>
              </a:lnSpc>
              <a:buNone/>
            </a:pPr>
            <a:r>
              <a:rPr lang="en-US" sz="1050" b="1" spc="108" kern="0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ECOSYSTEM</a:t>
            </a:r>
            <a:endParaRPr lang="en-US" sz="1050" dirty="0"/>
          </a:p>
        </p:txBody>
      </p:sp>
      <p:sp>
        <p:nvSpPr>
          <p:cNvPr id="19" name="Text 1"/>
          <p:cNvSpPr/>
          <p:nvPr/>
        </p:nvSpPr>
        <p:spPr>
          <a:xfrm>
            <a:off x="472456" y="679156"/>
            <a:ext cx="21236929" cy="4572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 Scientific Libraries</a:t>
            </a:r>
            <a:endParaRPr lang="en-US" sz="3600" dirty="0"/>
          </a:p>
        </p:txBody>
      </p:sp>
      <p:sp>
        <p:nvSpPr>
          <p:cNvPr id="20" name="Text 2"/>
          <p:cNvSpPr/>
          <p:nvPr/>
        </p:nvSpPr>
        <p:spPr>
          <a:xfrm>
            <a:off x="472456" y="1254501"/>
            <a:ext cx="5669477" cy="6200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28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foundational libraries extend Python's capabilities, enabling researchers to implement complex scientific workflows with minimal code.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1409987" y="2590205"/>
            <a:ext cx="4331581" cy="2362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60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NumPy</a:t>
            </a:r>
            <a:endParaRPr lang="en-US" sz="1800" dirty="0"/>
          </a:p>
        </p:txBody>
      </p:sp>
      <p:sp>
        <p:nvSpPr>
          <p:cNvPr id="22" name="Text 4"/>
          <p:cNvSpPr/>
          <p:nvPr/>
        </p:nvSpPr>
        <p:spPr>
          <a:xfrm>
            <a:off x="1409987" y="2885491"/>
            <a:ext cx="4331581" cy="74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core library for numerical computing. Provides efficient 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array operations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mathematical functions for multi-dimensional data.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7151555" y="2590205"/>
            <a:ext cx="4331696" cy="2362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60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Pandas</a:t>
            </a:r>
            <a:endParaRPr lang="en-US" sz="1800" dirty="0"/>
          </a:p>
        </p:txBody>
      </p:sp>
      <p:sp>
        <p:nvSpPr>
          <p:cNvPr id="24" name="Text 6"/>
          <p:cNvSpPr/>
          <p:nvPr/>
        </p:nvSpPr>
        <p:spPr>
          <a:xfrm>
            <a:off x="7151555" y="2885491"/>
            <a:ext cx="4331696" cy="74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for 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manipulation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Offers powerful structures like DataFrames and Series for analyzing and cleaning structured data.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1409987" y="4336772"/>
            <a:ext cx="4331581" cy="2362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60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Matplotlib</a:t>
            </a:r>
            <a:endParaRPr lang="en-US" sz="1800" dirty="0"/>
          </a:p>
        </p:txBody>
      </p:sp>
      <p:sp>
        <p:nvSpPr>
          <p:cNvPr id="26" name="Text 8"/>
          <p:cNvSpPr/>
          <p:nvPr/>
        </p:nvSpPr>
        <p:spPr>
          <a:xfrm>
            <a:off x="1409987" y="4632057"/>
            <a:ext cx="4331581" cy="49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standard for 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visualization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Enables creation of static, animated, and interactive publication-quality plots.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7217994" y="4336772"/>
            <a:ext cx="4265257" cy="2362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60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SciPy</a:t>
            </a:r>
            <a:endParaRPr lang="en-US" sz="1800" dirty="0"/>
          </a:p>
        </p:txBody>
      </p:sp>
      <p:sp>
        <p:nvSpPr>
          <p:cNvPr id="28" name="Text 10"/>
          <p:cNvSpPr/>
          <p:nvPr/>
        </p:nvSpPr>
        <p:spPr>
          <a:xfrm>
            <a:off x="7217994" y="4632057"/>
            <a:ext cx="4265257" cy="74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collection of 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scientific algorithms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Includes modules for optimization, integration, interpolation, and signal processing.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472456" y="6223137"/>
            <a:ext cx="9015873" cy="1476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3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 1: Foundations of Scientific Computing</a:t>
            </a:r>
            <a:endParaRPr lang="en-US" sz="1050" dirty="0"/>
          </a:p>
        </p:txBody>
      </p:sp>
      <p:sp>
        <p:nvSpPr>
          <p:cNvPr id="30" name="Text 12"/>
          <p:cNvSpPr/>
          <p:nvPr/>
        </p:nvSpPr>
        <p:spPr>
          <a:xfrm>
            <a:off x="9505994" y="6208372"/>
            <a:ext cx="2436447" cy="17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30"/>
              </a:lnSpc>
              <a:buNone/>
            </a:pPr>
            <a:r>
              <a:rPr lang="en-US" sz="900" b="1" spc="-46" kern="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ESSENTIAL TOOLSET</a:t>
            </a:r>
            <a:endParaRPr lang="en-US" sz="900" dirty="0"/>
          </a:p>
        </p:txBody>
      </p:sp>
      <p:sp>
        <p:nvSpPr>
          <p:cNvPr id="31" name="Text 13"/>
          <p:cNvSpPr/>
          <p:nvPr/>
        </p:nvSpPr>
        <p:spPr>
          <a:xfrm>
            <a:off x="10737656" y="6208372"/>
            <a:ext cx="3578820" cy="17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3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Slide 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14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77" y="341477"/>
            <a:ext cx="11508960" cy="71330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77" y="1339342"/>
            <a:ext cx="5640598" cy="187723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216" y="1510081"/>
            <a:ext cx="199195" cy="22854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216" y="1852447"/>
            <a:ext cx="5299121" cy="42684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216" y="2393119"/>
            <a:ext cx="2592648" cy="65272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1627" y="2485603"/>
            <a:ext cx="113826" cy="13339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8689" y="2393119"/>
            <a:ext cx="2592648" cy="65272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8100" y="2485603"/>
            <a:ext cx="113826" cy="13339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9727" y="1339342"/>
            <a:ext cx="5640710" cy="1824769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0466" y="1510081"/>
            <a:ext cx="256108" cy="22854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0466" y="2423354"/>
            <a:ext cx="1728395" cy="57001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65773" y="2423354"/>
            <a:ext cx="1728507" cy="570018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51193" y="2423354"/>
            <a:ext cx="1728505" cy="570018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1477" y="3444229"/>
            <a:ext cx="284564" cy="228541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1477" y="3843508"/>
            <a:ext cx="5640598" cy="185233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09727" y="3843508"/>
            <a:ext cx="5640710" cy="541561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95097" y="3943550"/>
            <a:ext cx="341477" cy="341477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98251" y="4038034"/>
            <a:ext cx="135168" cy="152398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09727" y="4498895"/>
            <a:ext cx="5640710" cy="541562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95097" y="4598937"/>
            <a:ext cx="341477" cy="341477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09727" y="5154282"/>
            <a:ext cx="5640710" cy="541561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95097" y="5254325"/>
            <a:ext cx="341477" cy="341477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98251" y="5348809"/>
            <a:ext cx="135168" cy="152397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41477" y="6203502"/>
            <a:ext cx="11508960" cy="313021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512216" y="341477"/>
            <a:ext cx="22037051" cy="4571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96" kern="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 and Assignment Logic</a:t>
            </a:r>
            <a:endParaRPr lang="en-US" sz="3600" dirty="0"/>
          </a:p>
        </p:txBody>
      </p:sp>
      <p:sp>
        <p:nvSpPr>
          <p:cNvPr id="28" name="Text 1"/>
          <p:cNvSpPr/>
          <p:nvPr/>
        </p:nvSpPr>
        <p:spPr>
          <a:xfrm>
            <a:off x="512216" y="855583"/>
            <a:ext cx="11338222" cy="19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68"/>
              </a:lnSpc>
              <a:buNone/>
            </a:pPr>
            <a:r>
              <a:rPr lang="en-US" sz="1500" b="1" spc="80" kern="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FUNDAMENTALS</a:t>
            </a:r>
            <a:endParaRPr lang="en-US" sz="1500" dirty="0"/>
          </a:p>
        </p:txBody>
      </p:sp>
      <p:sp>
        <p:nvSpPr>
          <p:cNvPr id="29" name="Text 2"/>
          <p:cNvSpPr/>
          <p:nvPr/>
        </p:nvSpPr>
        <p:spPr>
          <a:xfrm>
            <a:off x="796780" y="1510081"/>
            <a:ext cx="6243822" cy="228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93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 Syntax</a:t>
            </a:r>
            <a:endParaRPr lang="en-US" sz="1800" dirty="0"/>
          </a:p>
        </p:txBody>
      </p:sp>
      <p:sp>
        <p:nvSpPr>
          <p:cNvPr id="30" name="Text 3"/>
          <p:cNvSpPr/>
          <p:nvPr/>
        </p:nvSpPr>
        <p:spPr>
          <a:xfrm>
            <a:off x="626042" y="1966273"/>
            <a:ext cx="7162038" cy="19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68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variable_name = expression</a:t>
            </a:r>
            <a:endParaRPr lang="en-US" sz="1350" dirty="0"/>
          </a:p>
        </p:txBody>
      </p:sp>
      <p:sp>
        <p:nvSpPr>
          <p:cNvPr id="31" name="Text 4"/>
          <p:cNvSpPr/>
          <p:nvPr/>
        </p:nvSpPr>
        <p:spPr>
          <a:xfrm>
            <a:off x="597585" y="2675905"/>
            <a:ext cx="2421909" cy="14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105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Left Side</a:t>
            </a:r>
            <a:endParaRPr lang="en-US" sz="1050" dirty="0"/>
          </a:p>
        </p:txBody>
      </p:sp>
      <p:sp>
        <p:nvSpPr>
          <p:cNvPr id="32" name="Text 5"/>
          <p:cNvSpPr/>
          <p:nvPr/>
        </p:nvSpPr>
        <p:spPr>
          <a:xfrm>
            <a:off x="415924" y="2818187"/>
            <a:ext cx="2785230" cy="14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Variable name</a:t>
            </a:r>
            <a:endParaRPr lang="en-US" sz="1050" dirty="0"/>
          </a:p>
        </p:txBody>
      </p:sp>
      <p:sp>
        <p:nvSpPr>
          <p:cNvPr id="33" name="Text 6"/>
          <p:cNvSpPr/>
          <p:nvPr/>
        </p:nvSpPr>
        <p:spPr>
          <a:xfrm>
            <a:off x="3304058" y="2675905"/>
            <a:ext cx="2421909" cy="14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105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Right Side</a:t>
            </a:r>
            <a:endParaRPr lang="en-US" sz="1050" dirty="0"/>
          </a:p>
        </p:txBody>
      </p:sp>
      <p:sp>
        <p:nvSpPr>
          <p:cNvPr id="34" name="Text 7"/>
          <p:cNvSpPr/>
          <p:nvPr/>
        </p:nvSpPr>
        <p:spPr>
          <a:xfrm>
            <a:off x="2158280" y="2818187"/>
            <a:ext cx="4713467" cy="14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Expression to evaluate</a:t>
            </a:r>
            <a:endParaRPr lang="en-US" sz="1050" dirty="0"/>
          </a:p>
        </p:txBody>
      </p:sp>
      <p:sp>
        <p:nvSpPr>
          <p:cNvPr id="35" name="Text 8"/>
          <p:cNvSpPr/>
          <p:nvPr/>
        </p:nvSpPr>
        <p:spPr>
          <a:xfrm>
            <a:off x="6721943" y="1510081"/>
            <a:ext cx="5299232" cy="228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93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Storage</a:t>
            </a:r>
            <a:endParaRPr lang="en-US" sz="1800" dirty="0"/>
          </a:p>
        </p:txBody>
      </p:sp>
      <p:sp>
        <p:nvSpPr>
          <p:cNvPr id="36" name="Text 9"/>
          <p:cNvSpPr/>
          <p:nvPr/>
        </p:nvSpPr>
        <p:spPr>
          <a:xfrm>
            <a:off x="6380466" y="1852447"/>
            <a:ext cx="5299232" cy="4570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Variables are stored in the computer's memory (RAM) and can be reused throughout the program.</a:t>
            </a:r>
            <a:endParaRPr lang="en-US" sz="1200" dirty="0"/>
          </a:p>
        </p:txBody>
      </p:sp>
      <p:sp>
        <p:nvSpPr>
          <p:cNvPr id="37" name="Text 10"/>
          <p:cNvSpPr/>
          <p:nvPr/>
        </p:nvSpPr>
        <p:spPr>
          <a:xfrm>
            <a:off x="6494291" y="2537180"/>
            <a:ext cx="1500743" cy="11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896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Variable</a:t>
            </a:r>
            <a:endParaRPr lang="en-US" sz="900" dirty="0"/>
          </a:p>
        </p:txBody>
      </p:sp>
      <p:sp>
        <p:nvSpPr>
          <p:cNvPr id="38" name="Text 11"/>
          <p:cNvSpPr/>
          <p:nvPr/>
        </p:nvSpPr>
        <p:spPr>
          <a:xfrm>
            <a:off x="6494291" y="2651006"/>
            <a:ext cx="1500743" cy="228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</a:t>
            </a:r>
            <a:endParaRPr lang="en-US" sz="1200" dirty="0"/>
          </a:p>
        </p:txBody>
      </p:sp>
      <p:sp>
        <p:nvSpPr>
          <p:cNvPr id="39" name="Text 12"/>
          <p:cNvSpPr/>
          <p:nvPr/>
        </p:nvSpPr>
        <p:spPr>
          <a:xfrm>
            <a:off x="8279599" y="2537180"/>
            <a:ext cx="1500854" cy="11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896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Variable</a:t>
            </a:r>
            <a:endParaRPr lang="en-US" sz="900" dirty="0"/>
          </a:p>
        </p:txBody>
      </p:sp>
      <p:sp>
        <p:nvSpPr>
          <p:cNvPr id="40" name="Text 13"/>
          <p:cNvSpPr/>
          <p:nvPr/>
        </p:nvSpPr>
        <p:spPr>
          <a:xfrm>
            <a:off x="7683320" y="2651006"/>
            <a:ext cx="2693413" cy="228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temperature</a:t>
            </a:r>
            <a:endParaRPr lang="en-US" sz="1200" dirty="0"/>
          </a:p>
        </p:txBody>
      </p:sp>
      <p:sp>
        <p:nvSpPr>
          <p:cNvPr id="41" name="Text 14"/>
          <p:cNvSpPr/>
          <p:nvPr/>
        </p:nvSpPr>
        <p:spPr>
          <a:xfrm>
            <a:off x="10065018" y="2537180"/>
            <a:ext cx="1500854" cy="11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896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Variable</a:t>
            </a:r>
            <a:endParaRPr lang="en-US" sz="900" dirty="0"/>
          </a:p>
        </p:txBody>
      </p:sp>
      <p:sp>
        <p:nvSpPr>
          <p:cNvPr id="42" name="Text 15"/>
          <p:cNvSpPr/>
          <p:nvPr/>
        </p:nvSpPr>
        <p:spPr>
          <a:xfrm>
            <a:off x="10065018" y="2651006"/>
            <a:ext cx="1500854" cy="228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</a:t>
            </a:r>
            <a:endParaRPr lang="en-US" sz="1200" dirty="0"/>
          </a:p>
        </p:txBody>
      </p:sp>
      <p:sp>
        <p:nvSpPr>
          <p:cNvPr id="43" name="Text 16"/>
          <p:cNvSpPr/>
          <p:nvPr/>
        </p:nvSpPr>
        <p:spPr>
          <a:xfrm>
            <a:off x="711411" y="3444229"/>
            <a:ext cx="11508960" cy="228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93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 Examples</a:t>
            </a:r>
            <a:endParaRPr lang="en-US" sz="1800" dirty="0"/>
          </a:p>
        </p:txBody>
      </p:sp>
      <p:sp>
        <p:nvSpPr>
          <p:cNvPr id="44" name="Text 17"/>
          <p:cNvSpPr/>
          <p:nvPr/>
        </p:nvSpPr>
        <p:spPr>
          <a:xfrm>
            <a:off x="483759" y="3985790"/>
            <a:ext cx="9998263" cy="14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Creating variables with different data types</a:t>
            </a:r>
            <a:endParaRPr lang="en-US" sz="1050" dirty="0"/>
          </a:p>
        </p:txBody>
      </p:sp>
      <p:sp>
        <p:nvSpPr>
          <p:cNvPr id="45" name="Text 18"/>
          <p:cNvSpPr/>
          <p:nvPr/>
        </p:nvSpPr>
        <p:spPr>
          <a:xfrm>
            <a:off x="483759" y="4234784"/>
            <a:ext cx="244856" cy="19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x</a:t>
            </a:r>
            <a:endParaRPr lang="en-US" sz="1200" dirty="0"/>
          </a:p>
        </p:txBody>
      </p:sp>
      <p:sp>
        <p:nvSpPr>
          <p:cNvPr id="46" name="Text 19"/>
          <p:cNvSpPr/>
          <p:nvPr/>
        </p:nvSpPr>
        <p:spPr>
          <a:xfrm>
            <a:off x="668726" y="4234784"/>
            <a:ext cx="244856" cy="19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=</a:t>
            </a:r>
            <a:endParaRPr lang="en-US" sz="1200" dirty="0"/>
          </a:p>
        </p:txBody>
      </p:sp>
      <p:sp>
        <p:nvSpPr>
          <p:cNvPr id="47" name="Text 20"/>
          <p:cNvSpPr/>
          <p:nvPr/>
        </p:nvSpPr>
        <p:spPr>
          <a:xfrm>
            <a:off x="853693" y="4234784"/>
            <a:ext cx="816186" cy="19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6A34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10</a:t>
            </a:r>
            <a:endParaRPr lang="en-US" sz="1200" dirty="0"/>
          </a:p>
        </p:txBody>
      </p:sp>
      <p:sp>
        <p:nvSpPr>
          <p:cNvPr id="48" name="Text 21"/>
          <p:cNvSpPr/>
          <p:nvPr/>
        </p:nvSpPr>
        <p:spPr>
          <a:xfrm>
            <a:off x="483759" y="4535466"/>
            <a:ext cx="2693413" cy="19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temperature</a:t>
            </a:r>
            <a:endParaRPr lang="en-US" sz="1200" dirty="0"/>
          </a:p>
        </p:txBody>
      </p:sp>
      <p:sp>
        <p:nvSpPr>
          <p:cNvPr id="49" name="Text 22"/>
          <p:cNvSpPr/>
          <p:nvPr/>
        </p:nvSpPr>
        <p:spPr>
          <a:xfrm>
            <a:off x="1593560" y="4535466"/>
            <a:ext cx="244856" cy="19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=</a:t>
            </a:r>
            <a:endParaRPr lang="en-US" sz="1200" dirty="0"/>
          </a:p>
        </p:txBody>
      </p:sp>
      <p:sp>
        <p:nvSpPr>
          <p:cNvPr id="50" name="Text 23"/>
          <p:cNvSpPr/>
          <p:nvPr/>
        </p:nvSpPr>
        <p:spPr>
          <a:xfrm>
            <a:off x="1778527" y="4535466"/>
            <a:ext cx="1469134" cy="19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6A34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37.5</a:t>
            </a:r>
            <a:endParaRPr lang="en-US" sz="1200" dirty="0"/>
          </a:p>
        </p:txBody>
      </p:sp>
      <p:sp>
        <p:nvSpPr>
          <p:cNvPr id="51" name="Text 24"/>
          <p:cNvSpPr/>
          <p:nvPr/>
        </p:nvSpPr>
        <p:spPr>
          <a:xfrm>
            <a:off x="483759" y="4836148"/>
            <a:ext cx="979423" cy="19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name</a:t>
            </a:r>
            <a:endParaRPr lang="en-US" sz="1200" dirty="0"/>
          </a:p>
        </p:txBody>
      </p:sp>
      <p:sp>
        <p:nvSpPr>
          <p:cNvPr id="52" name="Text 25"/>
          <p:cNvSpPr/>
          <p:nvPr/>
        </p:nvSpPr>
        <p:spPr>
          <a:xfrm>
            <a:off x="946176" y="4836148"/>
            <a:ext cx="244856" cy="19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=</a:t>
            </a:r>
            <a:endParaRPr lang="en-US" sz="1200" dirty="0"/>
          </a:p>
        </p:txBody>
      </p:sp>
      <p:sp>
        <p:nvSpPr>
          <p:cNvPr id="53" name="Text 26"/>
          <p:cNvSpPr/>
          <p:nvPr/>
        </p:nvSpPr>
        <p:spPr>
          <a:xfrm>
            <a:off x="1131143" y="4836148"/>
            <a:ext cx="1713990" cy="19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EA580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"Alice"</a:t>
            </a:r>
            <a:endParaRPr lang="en-US" sz="1200" dirty="0"/>
          </a:p>
        </p:txBody>
      </p:sp>
      <p:sp>
        <p:nvSpPr>
          <p:cNvPr id="54" name="Text 27"/>
          <p:cNvSpPr/>
          <p:nvPr/>
        </p:nvSpPr>
        <p:spPr>
          <a:xfrm>
            <a:off x="6750399" y="3928877"/>
            <a:ext cx="3183125" cy="228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Integer (int)</a:t>
            </a:r>
            <a:endParaRPr lang="en-US" sz="1200" dirty="0"/>
          </a:p>
        </p:txBody>
      </p:sp>
      <p:sp>
        <p:nvSpPr>
          <p:cNvPr id="55" name="Text 28"/>
          <p:cNvSpPr/>
          <p:nvPr/>
        </p:nvSpPr>
        <p:spPr>
          <a:xfrm>
            <a:off x="6750399" y="4157418"/>
            <a:ext cx="3713641" cy="14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Whole number: 10</a:t>
            </a:r>
            <a:endParaRPr lang="en-US" sz="1050" dirty="0"/>
          </a:p>
        </p:txBody>
      </p:sp>
      <p:sp>
        <p:nvSpPr>
          <p:cNvPr id="56" name="Text 29"/>
          <p:cNvSpPr/>
          <p:nvPr/>
        </p:nvSpPr>
        <p:spPr>
          <a:xfrm>
            <a:off x="6750399" y="4584265"/>
            <a:ext cx="1373023" cy="228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Float</a:t>
            </a:r>
            <a:endParaRPr lang="en-US" sz="1200" dirty="0"/>
          </a:p>
        </p:txBody>
      </p:sp>
      <p:sp>
        <p:nvSpPr>
          <p:cNvPr id="57" name="Text 30"/>
          <p:cNvSpPr/>
          <p:nvPr/>
        </p:nvSpPr>
        <p:spPr>
          <a:xfrm>
            <a:off x="6750399" y="4812805"/>
            <a:ext cx="4713467" cy="14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Decimal number: 37.5</a:t>
            </a:r>
            <a:endParaRPr lang="en-US" sz="1050" dirty="0"/>
          </a:p>
        </p:txBody>
      </p:sp>
      <p:sp>
        <p:nvSpPr>
          <p:cNvPr id="58" name="Text 31"/>
          <p:cNvSpPr/>
          <p:nvPr/>
        </p:nvSpPr>
        <p:spPr>
          <a:xfrm>
            <a:off x="6750399" y="5239652"/>
            <a:ext cx="2938269" cy="228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String (str)</a:t>
            </a:r>
            <a:endParaRPr lang="en-US" sz="1200" dirty="0"/>
          </a:p>
        </p:txBody>
      </p:sp>
      <p:sp>
        <p:nvSpPr>
          <p:cNvPr id="59" name="Text 32"/>
          <p:cNvSpPr/>
          <p:nvPr/>
        </p:nvSpPr>
        <p:spPr>
          <a:xfrm>
            <a:off x="6750399" y="5468192"/>
            <a:ext cx="2785230" cy="14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Text: "Alice"</a:t>
            </a:r>
            <a:endParaRPr lang="en-US" sz="1050" dirty="0"/>
          </a:p>
        </p:txBody>
      </p:sp>
      <p:sp>
        <p:nvSpPr>
          <p:cNvPr id="60" name="Text 33"/>
          <p:cNvSpPr/>
          <p:nvPr/>
        </p:nvSpPr>
        <p:spPr>
          <a:xfrm>
            <a:off x="341477" y="6374241"/>
            <a:ext cx="8498524" cy="1422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Variables and Assignment Logic — Week 1</a:t>
            </a:r>
            <a:endParaRPr lang="en-US" sz="1050" dirty="0"/>
          </a:p>
        </p:txBody>
      </p:sp>
      <p:sp>
        <p:nvSpPr>
          <p:cNvPr id="61" name="Text 34"/>
          <p:cNvSpPr/>
          <p:nvPr/>
        </p:nvSpPr>
        <p:spPr>
          <a:xfrm>
            <a:off x="10512984" y="6374241"/>
            <a:ext cx="4070721" cy="1422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Fundamentals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011" y="385011"/>
            <a:ext cx="6111666" cy="74595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1558" y="385011"/>
            <a:ext cx="545432" cy="57350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9894" y="513347"/>
            <a:ext cx="288758" cy="28875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011" y="1451811"/>
            <a:ext cx="4609348" cy="38195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684" y="1722521"/>
            <a:ext cx="232611" cy="228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684" y="3250156"/>
            <a:ext cx="152400" cy="160421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684" y="4064292"/>
            <a:ext cx="136358" cy="16042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5011" y="5463841"/>
            <a:ext cx="4609348" cy="100914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59593" y="6020552"/>
            <a:ext cx="96253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33412" y="6020552"/>
            <a:ext cx="96253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71925" y="6020552"/>
            <a:ext cx="96253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51032" y="1451811"/>
            <a:ext cx="6555957" cy="168041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07706" y="1722521"/>
            <a:ext cx="256674" cy="2286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07706" y="2382253"/>
            <a:ext cx="6042610" cy="493295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577516" y="385011"/>
            <a:ext cx="16939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85" kern="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Expressions and Evaluation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577516" y="906379"/>
            <a:ext cx="7962900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68"/>
              </a:lnSpc>
              <a:buNone/>
            </a:pPr>
            <a:r>
              <a:rPr lang="en-US" sz="1500" b="1" spc="143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FOUNDATIONS • PART 17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970547" y="1708484"/>
            <a:ext cx="7166610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1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an Expression?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641684" y="2157663"/>
            <a:ext cx="4096001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combination of </a:t>
            </a:r>
            <a:pPr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values</a:t>
            </a:r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</a:t>
            </a:r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operators</a:t>
            </a:r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Python interprets to return a single value.</a:t>
            </a:r>
            <a:endParaRPr lang="en-US" sz="1350" dirty="0"/>
          </a:p>
        </p:txBody>
      </p:sp>
      <p:sp>
        <p:nvSpPr>
          <p:cNvPr id="21" name="Text 4"/>
          <p:cNvSpPr/>
          <p:nvPr/>
        </p:nvSpPr>
        <p:spPr>
          <a:xfrm>
            <a:off x="922421" y="3185987"/>
            <a:ext cx="381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Logic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922421" y="3414587"/>
            <a:ext cx="381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resolves expressions based on fixed mathematical precedence rules.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906379" y="4000124"/>
            <a:ext cx="38313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906379" y="4228724"/>
            <a:ext cx="38313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expression, no matter how complex, reduces to a single result.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577516" y="5656346"/>
            <a:ext cx="4224338" cy="1604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3"/>
              </a:lnSpc>
              <a:buNone/>
            </a:pPr>
            <a:r>
              <a:rPr lang="en-US" sz="1050" b="1" spc="1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ORDER</a:t>
            </a:r>
            <a:endParaRPr lang="en-US" sz="1050" dirty="0"/>
          </a:p>
        </p:txBody>
      </p:sp>
      <p:sp>
        <p:nvSpPr>
          <p:cNvPr id="26" name="Text 9"/>
          <p:cNvSpPr/>
          <p:nvPr/>
        </p:nvSpPr>
        <p:spPr>
          <a:xfrm>
            <a:off x="641684" y="5913020"/>
            <a:ext cx="689811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68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()</a:t>
            </a:r>
            <a:endParaRPr lang="en-US" sz="1500" dirty="0"/>
          </a:p>
        </p:txBody>
      </p:sp>
      <p:sp>
        <p:nvSpPr>
          <p:cNvPr id="27" name="Text 10"/>
          <p:cNvSpPr/>
          <p:nvPr/>
        </p:nvSpPr>
        <p:spPr>
          <a:xfrm>
            <a:off x="240068" y="6137609"/>
            <a:ext cx="14930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PARENTHESES</a:t>
            </a:r>
            <a:endParaRPr lang="en-US" sz="750" dirty="0"/>
          </a:p>
        </p:txBody>
      </p:sp>
      <p:sp>
        <p:nvSpPr>
          <p:cNvPr id="28" name="Text 11"/>
          <p:cNvSpPr/>
          <p:nvPr/>
        </p:nvSpPr>
        <p:spPr>
          <a:xfrm>
            <a:off x="1692191" y="5913020"/>
            <a:ext cx="904875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68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**</a:t>
            </a:r>
            <a:endParaRPr lang="en-US" sz="1500" dirty="0"/>
          </a:p>
        </p:txBody>
      </p:sp>
      <p:sp>
        <p:nvSpPr>
          <p:cNvPr id="29" name="Text 12"/>
          <p:cNvSpPr/>
          <p:nvPr/>
        </p:nvSpPr>
        <p:spPr>
          <a:xfrm>
            <a:off x="1601704" y="6137609"/>
            <a:ext cx="10858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EXPONENT</a:t>
            </a:r>
            <a:endParaRPr lang="en-US" sz="750" dirty="0"/>
          </a:p>
        </p:txBody>
      </p:sp>
      <p:sp>
        <p:nvSpPr>
          <p:cNvPr id="30" name="Text 13"/>
          <p:cNvSpPr/>
          <p:nvPr/>
        </p:nvSpPr>
        <p:spPr>
          <a:xfrm>
            <a:off x="1767263" y="5913020"/>
            <a:ext cx="3167062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68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*, /, //, %</a:t>
            </a:r>
            <a:endParaRPr lang="en-US" sz="1500" dirty="0"/>
          </a:p>
        </p:txBody>
      </p:sp>
      <p:sp>
        <p:nvSpPr>
          <p:cNvPr id="31" name="Text 14"/>
          <p:cNvSpPr/>
          <p:nvPr/>
        </p:nvSpPr>
        <p:spPr>
          <a:xfrm>
            <a:off x="2807870" y="6137609"/>
            <a:ext cx="10858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MULT/DIV</a:t>
            </a:r>
            <a:endParaRPr lang="en-US" sz="750" dirty="0"/>
          </a:p>
        </p:txBody>
      </p:sp>
      <p:sp>
        <p:nvSpPr>
          <p:cNvPr id="32" name="Text 15"/>
          <p:cNvSpPr/>
          <p:nvPr/>
        </p:nvSpPr>
        <p:spPr>
          <a:xfrm>
            <a:off x="3973930" y="5913020"/>
            <a:ext cx="1085850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68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+, -</a:t>
            </a:r>
            <a:endParaRPr lang="en-US" sz="1500" dirty="0"/>
          </a:p>
        </p:txBody>
      </p:sp>
      <p:sp>
        <p:nvSpPr>
          <p:cNvPr id="33" name="Text 16"/>
          <p:cNvSpPr/>
          <p:nvPr/>
        </p:nvSpPr>
        <p:spPr>
          <a:xfrm>
            <a:off x="4041796" y="6137609"/>
            <a:ext cx="9501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ADD/SUB</a:t>
            </a:r>
            <a:endParaRPr lang="en-US" sz="750" dirty="0"/>
          </a:p>
        </p:txBody>
      </p:sp>
      <p:sp>
        <p:nvSpPr>
          <p:cNvPr id="34" name="Text 17"/>
          <p:cNvSpPr/>
          <p:nvPr/>
        </p:nvSpPr>
        <p:spPr>
          <a:xfrm>
            <a:off x="5860632" y="1708484"/>
            <a:ext cx="6042610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1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Examples</a:t>
            </a:r>
            <a:endParaRPr lang="en-US" sz="1800" dirty="0"/>
          </a:p>
        </p:txBody>
      </p:sp>
      <p:sp>
        <p:nvSpPr>
          <p:cNvPr id="35" name="Text 18"/>
          <p:cNvSpPr/>
          <p:nvPr/>
        </p:nvSpPr>
        <p:spPr>
          <a:xfrm>
            <a:off x="5507706" y="2157663"/>
            <a:ext cx="6042610" cy="1604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3"/>
              </a:lnSpc>
              <a:buNone/>
            </a:pPr>
            <a:r>
              <a:rPr lang="en-US" sz="1050" b="1" spc="-5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WITH PRECEDENCE</a:t>
            </a:r>
            <a:endParaRPr lang="en-US" sz="1050" dirty="0"/>
          </a:p>
        </p:txBody>
      </p:sp>
      <p:sp>
        <p:nvSpPr>
          <p:cNvPr id="36" name="Text 19"/>
          <p:cNvSpPr/>
          <p:nvPr/>
        </p:nvSpPr>
        <p:spPr>
          <a:xfrm>
            <a:off x="5636043" y="2510589"/>
            <a:ext cx="2198846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68"/>
              </a:lnSpc>
              <a:buNone/>
            </a:pPr>
            <a:r>
              <a:rPr lang="en-US" sz="1350" dirty="0">
                <a:solidFill>
                  <a:srgbClr val="2D343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result = </a:t>
            </a:r>
            <a:endParaRPr lang="en-US" sz="1350" dirty="0"/>
          </a:p>
        </p:txBody>
      </p:sp>
      <p:sp>
        <p:nvSpPr>
          <p:cNvPr id="37" name="Text 20"/>
          <p:cNvSpPr/>
          <p:nvPr/>
        </p:nvSpPr>
        <p:spPr>
          <a:xfrm>
            <a:off x="6574506" y="2510589"/>
            <a:ext cx="407194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68"/>
              </a:lnSpc>
              <a:buNone/>
            </a:pPr>
            <a:r>
              <a:rPr lang="en-US" sz="1350" dirty="0">
                <a:solidFill>
                  <a:srgbClr val="2563E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2</a:t>
            </a:r>
            <a:endParaRPr lang="en-US" sz="1350" dirty="0"/>
          </a:p>
        </p:txBody>
      </p:sp>
      <p:sp>
        <p:nvSpPr>
          <p:cNvPr id="38" name="Text 21"/>
          <p:cNvSpPr/>
          <p:nvPr/>
        </p:nvSpPr>
        <p:spPr>
          <a:xfrm>
            <a:off x="6678780" y="2510589"/>
            <a:ext cx="732949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68"/>
              </a:lnSpc>
              <a:buNone/>
            </a:pPr>
            <a:r>
              <a:rPr lang="en-US" sz="1350" dirty="0">
                <a:solidFill>
                  <a:srgbClr val="2D343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+ </a:t>
            </a:r>
            <a:endParaRPr lang="en-US" sz="1350" dirty="0"/>
          </a:p>
        </p:txBody>
      </p:sp>
      <p:sp>
        <p:nvSpPr>
          <p:cNvPr id="39" name="Text 22"/>
          <p:cNvSpPr/>
          <p:nvPr/>
        </p:nvSpPr>
        <p:spPr>
          <a:xfrm>
            <a:off x="6991601" y="2510589"/>
            <a:ext cx="407194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68"/>
              </a:lnSpc>
              <a:buNone/>
            </a:pPr>
            <a:r>
              <a:rPr lang="en-US" sz="1350" dirty="0">
                <a:solidFill>
                  <a:srgbClr val="2563E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3</a:t>
            </a:r>
            <a:endParaRPr lang="en-US" sz="1350" dirty="0"/>
          </a:p>
        </p:txBody>
      </p:sp>
      <p:sp>
        <p:nvSpPr>
          <p:cNvPr id="40" name="Text 23"/>
          <p:cNvSpPr/>
          <p:nvPr/>
        </p:nvSpPr>
        <p:spPr>
          <a:xfrm>
            <a:off x="7095874" y="2510589"/>
            <a:ext cx="895826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68"/>
              </a:lnSpc>
              <a:buNone/>
            </a:pPr>
            <a:r>
              <a:rPr lang="en-US" sz="1350" dirty="0">
                <a:solidFill>
                  <a:srgbClr val="2D343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* </a:t>
            </a:r>
            <a:endParaRPr lang="en-US" sz="1350" dirty="0"/>
          </a:p>
        </p:txBody>
      </p:sp>
      <p:sp>
        <p:nvSpPr>
          <p:cNvPr id="41" name="Text 24"/>
          <p:cNvSpPr/>
          <p:nvPr/>
        </p:nvSpPr>
        <p:spPr>
          <a:xfrm>
            <a:off x="7408695" y="2510589"/>
            <a:ext cx="407194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68"/>
              </a:lnSpc>
              <a:buNone/>
            </a:pPr>
            <a:r>
              <a:rPr lang="en-US" sz="1350" dirty="0">
                <a:solidFill>
                  <a:srgbClr val="2563E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4</a:t>
            </a:r>
            <a:endParaRPr lang="en-US" sz="1350" dirty="0"/>
          </a:p>
        </p:txBody>
      </p:sp>
      <p:sp>
        <p:nvSpPr>
          <p:cNvPr id="42" name="Text 25"/>
          <p:cNvSpPr/>
          <p:nvPr/>
        </p:nvSpPr>
        <p:spPr>
          <a:xfrm>
            <a:off x="7745580" y="2510589"/>
            <a:ext cx="4642009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68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Evaluates to 14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5339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09600"/>
            <a:ext cx="10972800" cy="800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790700"/>
            <a:ext cx="5334000" cy="21336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1150" y="2095500"/>
            <a:ext cx="247650" cy="342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819400"/>
            <a:ext cx="4724400" cy="8001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38200" y="609600"/>
            <a:ext cx="1207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Fundamental Data Types</a:t>
            </a:r>
            <a:endParaRPr lang="en-US" sz="3600" dirty="0"/>
          </a:p>
        </p:txBody>
      </p:sp>
      <p:sp>
        <p:nvSpPr>
          <p:cNvPr id="8" name="Text 1"/>
          <p:cNvSpPr/>
          <p:nvPr/>
        </p:nvSpPr>
        <p:spPr>
          <a:xfrm>
            <a:off x="838200" y="1143000"/>
            <a:ext cx="1074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spc="120" kern="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FOUNDATIONS</a:t>
            </a:r>
            <a:endParaRPr lang="en-US" sz="1500" dirty="0"/>
          </a:p>
        </p:txBody>
      </p:sp>
      <p:sp>
        <p:nvSpPr>
          <p:cNvPr id="9" name="Text 2"/>
          <p:cNvSpPr/>
          <p:nvPr/>
        </p:nvSpPr>
        <p:spPr>
          <a:xfrm>
            <a:off x="914400" y="2095500"/>
            <a:ext cx="2876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Integer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int</a:t>
            </a:r>
            <a:endParaRPr lang="en-US" sz="1800" dirty="0"/>
          </a:p>
        </p:txBody>
      </p:sp>
      <p:sp>
        <p:nvSpPr>
          <p:cNvPr id="10" name="Text 3"/>
          <p:cNvSpPr/>
          <p:nvPr/>
        </p:nvSpPr>
        <p:spPr>
          <a:xfrm>
            <a:off x="914400" y="243840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Whole numbers without decimal points.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1066800" y="2971800"/>
            <a:ext cx="441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-42" kern="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EXAMPLES</a:t>
            </a:r>
            <a:endParaRPr lang="en-US" sz="1050" dirty="0"/>
          </a:p>
        </p:txBody>
      </p:sp>
      <p:sp>
        <p:nvSpPr>
          <p:cNvPr id="12" name="Text 5"/>
          <p:cNvSpPr/>
          <p:nvPr/>
        </p:nvSpPr>
        <p:spPr>
          <a:xfrm>
            <a:off x="1066800" y="323850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7AE6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42, -7, 1000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884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95" y="399495"/>
            <a:ext cx="1140226" cy="19974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95" y="1455972"/>
            <a:ext cx="3664380" cy="176469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243" y="1655720"/>
            <a:ext cx="332913" cy="33291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116" y="1745971"/>
            <a:ext cx="133165" cy="15241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243" y="2688009"/>
            <a:ext cx="3264884" cy="33291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3622" y="1455972"/>
            <a:ext cx="3664509" cy="176469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3370" y="1655720"/>
            <a:ext cx="332913" cy="33291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3244" y="1745971"/>
            <a:ext cx="133165" cy="15241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3370" y="2688009"/>
            <a:ext cx="3265014" cy="33291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7879" y="1455972"/>
            <a:ext cx="3664380" cy="1764697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7627" y="1655720"/>
            <a:ext cx="332912" cy="332913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06694" y="1745971"/>
            <a:ext cx="174779" cy="152412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27627" y="2479809"/>
            <a:ext cx="3264884" cy="332913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9495" y="3639021"/>
            <a:ext cx="224716" cy="228617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9495" y="4978864"/>
            <a:ext cx="116519" cy="13316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39595" y="4978864"/>
            <a:ext cx="116519" cy="13316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79694" y="4978864"/>
            <a:ext cx="116520" cy="13316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29107" y="3620164"/>
            <a:ext cx="5563283" cy="150851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28855" y="4091444"/>
            <a:ext cx="5163787" cy="233039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9495" y="6125592"/>
            <a:ext cx="11392894" cy="332912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99369" y="399495"/>
            <a:ext cx="1631512" cy="19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49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BASICS</a:t>
            </a:r>
            <a:endParaRPr lang="en-US" sz="900" dirty="0"/>
          </a:p>
        </p:txBody>
      </p:sp>
      <p:sp>
        <p:nvSpPr>
          <p:cNvPr id="24" name="Text 1"/>
          <p:cNvSpPr/>
          <p:nvPr/>
        </p:nvSpPr>
        <p:spPr>
          <a:xfrm>
            <a:off x="1672886" y="416141"/>
            <a:ext cx="3052229" cy="16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11"/>
              </a:lnSpc>
              <a:buNone/>
            </a:pPr>
            <a:r>
              <a:rPr lang="en-US" sz="1050" b="1" spc="96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19 OF 25</a:t>
            </a:r>
            <a:endParaRPr lang="en-US" sz="1050" dirty="0"/>
          </a:p>
        </p:txBody>
      </p:sp>
      <p:sp>
        <p:nvSpPr>
          <p:cNvPr id="25" name="Text 2"/>
          <p:cNvSpPr/>
          <p:nvPr/>
        </p:nvSpPr>
        <p:spPr>
          <a:xfrm>
            <a:off x="399495" y="665825"/>
            <a:ext cx="18208741" cy="45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Numeric Types &amp; Type Checking</a:t>
            </a:r>
            <a:endParaRPr lang="en-US" sz="3600" dirty="0"/>
          </a:p>
        </p:txBody>
      </p:sp>
      <p:sp>
        <p:nvSpPr>
          <p:cNvPr id="26" name="Text 3"/>
          <p:cNvSpPr/>
          <p:nvPr/>
        </p:nvSpPr>
        <p:spPr>
          <a:xfrm>
            <a:off x="1032029" y="1705657"/>
            <a:ext cx="784860" cy="23303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35"/>
              </a:lnSpc>
              <a:buNone/>
            </a:pPr>
            <a:r>
              <a:rPr lang="en-US" sz="1500" b="1" i="1" dirty="0">
                <a:solidFill>
                  <a:srgbClr val="2D343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</a:t>
            </a:r>
            <a:endParaRPr lang="en-US" sz="1500" dirty="0"/>
          </a:p>
        </p:txBody>
      </p:sp>
      <p:sp>
        <p:nvSpPr>
          <p:cNvPr id="27" name="Text 4"/>
          <p:cNvSpPr/>
          <p:nvPr/>
        </p:nvSpPr>
        <p:spPr>
          <a:xfrm>
            <a:off x="599243" y="2121798"/>
            <a:ext cx="3264884" cy="4330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Whole numbers, positive or negative. Limited only by available memory.</a:t>
            </a:r>
            <a:endParaRPr lang="en-US" sz="1050" dirty="0"/>
          </a:p>
        </p:txBody>
      </p:sp>
      <p:sp>
        <p:nvSpPr>
          <p:cNvPr id="28" name="Text 5"/>
          <p:cNvSpPr/>
          <p:nvPr/>
        </p:nvSpPr>
        <p:spPr>
          <a:xfrm>
            <a:off x="699116" y="2688009"/>
            <a:ext cx="3036284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49"/>
              </a:lnSpc>
              <a:buNone/>
            </a:pPr>
            <a:r>
              <a:rPr lang="en-US" sz="900" dirty="0">
                <a:solidFill>
                  <a:srgbClr val="2563E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x</a:t>
            </a:r>
            <a:pPr indent="0" marL="0">
              <a:lnSpc>
                <a:spcPts val="1049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= </a:t>
            </a:r>
            <a:pPr indent="0" marL="0">
              <a:lnSpc>
                <a:spcPts val="1049"/>
              </a:lnSpc>
              <a:buNone/>
            </a:pPr>
            <a:r>
              <a:rPr lang="en-US" sz="900" dirty="0">
                <a:solidFill>
                  <a:srgbClr val="EA580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42</a:t>
            </a:r>
            <a:endParaRPr lang="en-US" sz="900" dirty="0"/>
          </a:p>
        </p:txBody>
      </p:sp>
      <p:sp>
        <p:nvSpPr>
          <p:cNvPr id="29" name="Text 6"/>
          <p:cNvSpPr/>
          <p:nvPr/>
        </p:nvSpPr>
        <p:spPr>
          <a:xfrm>
            <a:off x="4896156" y="1705657"/>
            <a:ext cx="1308101" cy="23303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35"/>
              </a:lnSpc>
              <a:buNone/>
            </a:pPr>
            <a:r>
              <a:rPr lang="en-US" sz="1500" b="1" i="1" dirty="0">
                <a:solidFill>
                  <a:srgbClr val="2D343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float</a:t>
            </a:r>
            <a:endParaRPr lang="en-US" sz="1500" dirty="0"/>
          </a:p>
        </p:txBody>
      </p:sp>
      <p:sp>
        <p:nvSpPr>
          <p:cNvPr id="30" name="Text 7"/>
          <p:cNvSpPr/>
          <p:nvPr/>
        </p:nvSpPr>
        <p:spPr>
          <a:xfrm>
            <a:off x="4463370" y="2121798"/>
            <a:ext cx="3265014" cy="4330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Decimal precision using IEEE 754 format. Supports scientific notation.</a:t>
            </a:r>
            <a:endParaRPr lang="en-US" sz="1050" dirty="0"/>
          </a:p>
        </p:txBody>
      </p:sp>
      <p:sp>
        <p:nvSpPr>
          <p:cNvPr id="31" name="Text 8"/>
          <p:cNvSpPr/>
          <p:nvPr/>
        </p:nvSpPr>
        <p:spPr>
          <a:xfrm>
            <a:off x="4563244" y="2688009"/>
            <a:ext cx="3036414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49"/>
              </a:lnSpc>
              <a:buNone/>
            </a:pPr>
            <a:r>
              <a:rPr lang="en-US" sz="900" dirty="0">
                <a:solidFill>
                  <a:srgbClr val="2563E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y</a:t>
            </a:r>
            <a:pPr indent="0" marL="0">
              <a:lnSpc>
                <a:spcPts val="1049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= </a:t>
            </a:r>
            <a:pPr indent="0" marL="0">
              <a:lnSpc>
                <a:spcPts val="1049"/>
              </a:lnSpc>
              <a:buNone/>
            </a:pPr>
            <a:r>
              <a:rPr lang="en-US" sz="900" dirty="0">
                <a:solidFill>
                  <a:srgbClr val="EA580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3.14159</a:t>
            </a:r>
            <a:endParaRPr lang="en-US" sz="900" dirty="0"/>
          </a:p>
        </p:txBody>
      </p:sp>
      <p:sp>
        <p:nvSpPr>
          <p:cNvPr id="32" name="Text 9"/>
          <p:cNvSpPr/>
          <p:nvPr/>
        </p:nvSpPr>
        <p:spPr>
          <a:xfrm>
            <a:off x="8760414" y="1705657"/>
            <a:ext cx="1831341" cy="23303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35"/>
              </a:lnSpc>
              <a:buNone/>
            </a:pPr>
            <a:r>
              <a:rPr lang="en-US" sz="1500" b="1" i="1" dirty="0">
                <a:solidFill>
                  <a:srgbClr val="2D343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complex</a:t>
            </a:r>
            <a:endParaRPr lang="en-US" sz="1500" dirty="0"/>
          </a:p>
        </p:txBody>
      </p:sp>
      <p:sp>
        <p:nvSpPr>
          <p:cNvPr id="33" name="Text 10"/>
          <p:cNvSpPr/>
          <p:nvPr/>
        </p:nvSpPr>
        <p:spPr>
          <a:xfrm>
            <a:off x="8327627" y="2121798"/>
            <a:ext cx="8973554" cy="22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and imaginary parts. Defined using </a:t>
            </a:r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j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suffix.</a:t>
            </a:r>
            <a:endParaRPr lang="en-US" sz="1050" dirty="0"/>
          </a:p>
        </p:txBody>
      </p:sp>
      <p:sp>
        <p:nvSpPr>
          <p:cNvPr id="34" name="Text 11"/>
          <p:cNvSpPr/>
          <p:nvPr/>
        </p:nvSpPr>
        <p:spPr>
          <a:xfrm>
            <a:off x="8427501" y="2479809"/>
            <a:ext cx="3036284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49"/>
              </a:lnSpc>
              <a:buNone/>
            </a:pPr>
            <a:r>
              <a:rPr lang="en-US" sz="900" dirty="0">
                <a:solidFill>
                  <a:srgbClr val="2563E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z</a:t>
            </a:r>
            <a:pPr indent="0" marL="0">
              <a:lnSpc>
                <a:spcPts val="1049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= </a:t>
            </a:r>
            <a:pPr indent="0" marL="0">
              <a:lnSpc>
                <a:spcPts val="1049"/>
              </a:lnSpc>
              <a:buNone/>
            </a:pPr>
            <a:r>
              <a:rPr lang="en-US" sz="900" dirty="0">
                <a:solidFill>
                  <a:srgbClr val="EA580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2 + 3j</a:t>
            </a:r>
            <a:endParaRPr lang="en-US" sz="900" dirty="0"/>
          </a:p>
        </p:txBody>
      </p:sp>
      <p:sp>
        <p:nvSpPr>
          <p:cNvPr id="35" name="Text 12"/>
          <p:cNvSpPr/>
          <p:nvPr/>
        </p:nvSpPr>
        <p:spPr>
          <a:xfrm>
            <a:off x="724085" y="3620164"/>
            <a:ext cx="5964943" cy="2663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97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</a:t>
            </a:r>
            <a:pPr indent="0" marL="0">
              <a:lnSpc>
                <a:spcPts val="2097"/>
              </a:lnSpc>
              <a:buNone/>
            </a:pPr>
            <a:r>
              <a:rPr lang="en-US" sz="1800" b="1" i="1" dirty="0">
                <a:solidFill>
                  <a:srgbClr val="2D343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type()</a:t>
            </a:r>
            <a:pPr indent="0" marL="0">
              <a:lnSpc>
                <a:spcPts val="2097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</a:t>
            </a:r>
            <a:endParaRPr lang="en-US" sz="1800" dirty="0"/>
          </a:p>
        </p:txBody>
      </p:sp>
      <p:sp>
        <p:nvSpPr>
          <p:cNvPr id="36" name="Text 13"/>
          <p:cNvSpPr/>
          <p:nvPr/>
        </p:nvSpPr>
        <p:spPr>
          <a:xfrm>
            <a:off x="399495" y="4019660"/>
            <a:ext cx="5563282" cy="7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Crucial for debugging and ensuring operations are performed on compatible data types to prevent runtime errors. Use it to inspect variables at any point in your script.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582597" y="4962219"/>
            <a:ext cx="2747006" cy="16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11"/>
              </a:lnSpc>
              <a:buNone/>
            </a:pPr>
            <a:r>
              <a:rPr lang="en-US" sz="1050" b="1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Verifies Inputs</a:t>
            </a:r>
            <a:endParaRPr lang="en-US" sz="1050" dirty="0"/>
          </a:p>
        </p:txBody>
      </p:sp>
      <p:sp>
        <p:nvSpPr>
          <p:cNvPr id="38" name="Text 15"/>
          <p:cNvSpPr/>
          <p:nvPr/>
        </p:nvSpPr>
        <p:spPr>
          <a:xfrm>
            <a:off x="1822697" y="4962219"/>
            <a:ext cx="2380739" cy="16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11"/>
              </a:lnSpc>
              <a:buNone/>
            </a:pPr>
            <a:r>
              <a:rPr lang="en-US" sz="1050" b="1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Debugs Errors</a:t>
            </a:r>
            <a:endParaRPr lang="en-US" sz="1050" dirty="0"/>
          </a:p>
        </p:txBody>
      </p:sp>
      <p:sp>
        <p:nvSpPr>
          <p:cNvPr id="39" name="Text 16"/>
          <p:cNvSpPr/>
          <p:nvPr/>
        </p:nvSpPr>
        <p:spPr>
          <a:xfrm>
            <a:off x="3062796" y="4962219"/>
            <a:ext cx="2197605" cy="16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11"/>
              </a:lnSpc>
              <a:buNone/>
            </a:pPr>
            <a:r>
              <a:rPr lang="en-US" sz="1050" b="1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 Logic</a:t>
            </a:r>
            <a:endParaRPr lang="en-US" sz="1050" dirty="0"/>
          </a:p>
        </p:txBody>
      </p:sp>
      <p:sp>
        <p:nvSpPr>
          <p:cNvPr id="40" name="Text 17"/>
          <p:cNvSpPr/>
          <p:nvPr/>
        </p:nvSpPr>
        <p:spPr>
          <a:xfrm>
            <a:off x="6428855" y="3825114"/>
            <a:ext cx="1404025" cy="16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11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 [1]:</a:t>
            </a:r>
            <a:endParaRPr lang="en-US" sz="1050" dirty="0"/>
          </a:p>
        </p:txBody>
      </p:sp>
      <p:sp>
        <p:nvSpPr>
          <p:cNvPr id="41" name="Text 18"/>
          <p:cNvSpPr/>
          <p:nvPr/>
        </p:nvSpPr>
        <p:spPr>
          <a:xfrm>
            <a:off x="7144617" y="3825114"/>
            <a:ext cx="1709248" cy="16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11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type</a:t>
            </a:r>
            <a:pPr indent="0" marL="0">
              <a:lnSpc>
                <a:spcPts val="1311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(42)</a:t>
            </a:r>
            <a:endParaRPr lang="en-US" sz="1050" dirty="0"/>
          </a:p>
        </p:txBody>
      </p:sp>
      <p:sp>
        <p:nvSpPr>
          <p:cNvPr id="42" name="Text 19"/>
          <p:cNvSpPr/>
          <p:nvPr/>
        </p:nvSpPr>
        <p:spPr>
          <a:xfrm>
            <a:off x="6428855" y="4091444"/>
            <a:ext cx="1404025" cy="16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11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Out[1]:</a:t>
            </a:r>
            <a:endParaRPr lang="en-US" sz="1050" dirty="0"/>
          </a:p>
        </p:txBody>
      </p:sp>
      <p:sp>
        <p:nvSpPr>
          <p:cNvPr id="43" name="Text 20"/>
          <p:cNvSpPr/>
          <p:nvPr/>
        </p:nvSpPr>
        <p:spPr>
          <a:xfrm>
            <a:off x="7144617" y="4091444"/>
            <a:ext cx="2380739" cy="16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11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&lt;class 'int'&gt;</a:t>
            </a:r>
            <a:endParaRPr lang="en-US" sz="1050" dirty="0"/>
          </a:p>
        </p:txBody>
      </p:sp>
      <p:sp>
        <p:nvSpPr>
          <p:cNvPr id="44" name="Text 21"/>
          <p:cNvSpPr/>
          <p:nvPr/>
        </p:nvSpPr>
        <p:spPr>
          <a:xfrm>
            <a:off x="6428855" y="4490939"/>
            <a:ext cx="1404025" cy="16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11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 [2]:</a:t>
            </a:r>
            <a:endParaRPr lang="en-US" sz="1050" dirty="0"/>
          </a:p>
        </p:txBody>
      </p:sp>
      <p:sp>
        <p:nvSpPr>
          <p:cNvPr id="45" name="Text 22"/>
          <p:cNvSpPr/>
          <p:nvPr/>
        </p:nvSpPr>
        <p:spPr>
          <a:xfrm>
            <a:off x="7144617" y="4490939"/>
            <a:ext cx="2197605" cy="16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11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type</a:t>
            </a:r>
            <a:pPr indent="0" marL="0">
              <a:lnSpc>
                <a:spcPts val="1311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(3.14)</a:t>
            </a:r>
            <a:endParaRPr lang="en-US" sz="1050" dirty="0"/>
          </a:p>
        </p:txBody>
      </p:sp>
      <p:sp>
        <p:nvSpPr>
          <p:cNvPr id="46" name="Text 23"/>
          <p:cNvSpPr/>
          <p:nvPr/>
        </p:nvSpPr>
        <p:spPr>
          <a:xfrm>
            <a:off x="6428855" y="4757269"/>
            <a:ext cx="1404025" cy="16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11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Out[2]:</a:t>
            </a:r>
            <a:endParaRPr lang="en-US" sz="1050" dirty="0"/>
          </a:p>
        </p:txBody>
      </p:sp>
      <p:sp>
        <p:nvSpPr>
          <p:cNvPr id="47" name="Text 24"/>
          <p:cNvSpPr/>
          <p:nvPr/>
        </p:nvSpPr>
        <p:spPr>
          <a:xfrm>
            <a:off x="7144617" y="4757269"/>
            <a:ext cx="2747006" cy="16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11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&lt;class 'float'&gt;</a:t>
            </a:r>
            <a:endParaRPr lang="en-US" sz="1050" dirty="0"/>
          </a:p>
        </p:txBody>
      </p:sp>
      <p:sp>
        <p:nvSpPr>
          <p:cNvPr id="48" name="Text 25"/>
          <p:cNvSpPr/>
          <p:nvPr/>
        </p:nvSpPr>
        <p:spPr>
          <a:xfrm>
            <a:off x="399495" y="6325339"/>
            <a:ext cx="5860274" cy="13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49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2026 Scientific Computing Course</a:t>
            </a:r>
            <a:endParaRPr lang="en-US" sz="900" dirty="0"/>
          </a:p>
        </p:txBody>
      </p:sp>
      <p:sp>
        <p:nvSpPr>
          <p:cNvPr id="49" name="Text 26"/>
          <p:cNvSpPr/>
          <p:nvPr/>
        </p:nvSpPr>
        <p:spPr>
          <a:xfrm>
            <a:off x="2571750" y="6325339"/>
            <a:ext cx="2982461" cy="13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49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Module: Foundations</a:t>
            </a:r>
            <a:endParaRPr lang="en-US" sz="900" dirty="0"/>
          </a:p>
        </p:txBody>
      </p:sp>
      <p:sp>
        <p:nvSpPr>
          <p:cNvPr id="50" name="Text 27"/>
          <p:cNvSpPr/>
          <p:nvPr/>
        </p:nvSpPr>
        <p:spPr>
          <a:xfrm>
            <a:off x="9668251" y="6325339"/>
            <a:ext cx="4866120" cy="13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49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sys.check_types() -&gt; status: OK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3909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81000"/>
            <a:ext cx="6528495" cy="800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485900"/>
            <a:ext cx="5524500" cy="1524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52600"/>
            <a:ext cx="171450" cy="190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3625" y="2552700"/>
            <a:ext cx="762000" cy="18097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09600" y="381000"/>
            <a:ext cx="1536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Strings and Formatted Output</a:t>
            </a:r>
            <a:endParaRPr lang="en-US" sz="3600" dirty="0"/>
          </a:p>
        </p:txBody>
      </p:sp>
      <p:sp>
        <p:nvSpPr>
          <p:cNvPr id="8" name="Text 1"/>
          <p:cNvSpPr/>
          <p:nvPr/>
        </p:nvSpPr>
        <p:spPr>
          <a:xfrm>
            <a:off x="609600" y="914400"/>
            <a:ext cx="90525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Types in Depth: Sequence &amp; Textual Data</a:t>
            </a:r>
            <a:endParaRPr lang="en-US" sz="1350" dirty="0"/>
          </a:p>
        </p:txBody>
      </p:sp>
      <p:sp>
        <p:nvSpPr>
          <p:cNvPr id="9" name="Text 2"/>
          <p:cNvSpPr/>
          <p:nvPr/>
        </p:nvSpPr>
        <p:spPr>
          <a:xfrm>
            <a:off x="9819363" y="381000"/>
            <a:ext cx="16868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FFFFFF"/>
                </a:solidFill>
                <a:highlight>
                  <a:srgbClr val="27AE6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PYTHON REVIEW</a:t>
            </a:r>
            <a:endParaRPr lang="en-US" sz="1050" dirty="0"/>
          </a:p>
        </p:txBody>
      </p:sp>
      <p:sp>
        <p:nvSpPr>
          <p:cNvPr id="10" name="Text 3"/>
          <p:cNvSpPr/>
          <p:nvPr/>
        </p:nvSpPr>
        <p:spPr>
          <a:xfrm>
            <a:off x="895350" y="1714500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Defining Strings</a:t>
            </a:r>
            <a:endParaRPr lang="en-US" sz="1500" dirty="0"/>
          </a:p>
        </p:txBody>
      </p:sp>
      <p:sp>
        <p:nvSpPr>
          <p:cNvPr id="11" name="Text 4"/>
          <p:cNvSpPr/>
          <p:nvPr/>
        </p:nvSpPr>
        <p:spPr>
          <a:xfrm>
            <a:off x="609600" y="21717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200" dirty="0"/>
          </a:p>
        </p:txBody>
      </p:sp>
      <p:sp>
        <p:nvSpPr>
          <p:cNvPr id="12" name="Text 5"/>
          <p:cNvSpPr/>
          <p:nvPr/>
        </p:nvSpPr>
        <p:spPr>
          <a:xfrm>
            <a:off x="762000" y="2133600"/>
            <a:ext cx="1170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using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double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or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triple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quotes (for multi-line).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609600" y="25527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762000" y="2514600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slicing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(e.g., 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91294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71500"/>
            <a:ext cx="11049000" cy="7239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76400"/>
            <a:ext cx="3530501" cy="286494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19050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3162300"/>
            <a:ext cx="3073301" cy="69324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4007941"/>
            <a:ext cx="3073301" cy="304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0601" y="1676400"/>
            <a:ext cx="3530650" cy="2864941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9201" y="190500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9201" y="3162300"/>
            <a:ext cx="3073450" cy="69324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59201" y="4007941"/>
            <a:ext cx="3073450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9850" y="1676400"/>
            <a:ext cx="3530501" cy="286494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18450" y="19050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8450" y="3162300"/>
            <a:ext cx="3073301" cy="69324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8450" y="4007941"/>
            <a:ext cx="3073301" cy="3048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4922341"/>
            <a:ext cx="11049000" cy="4191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29750" y="5179516"/>
            <a:ext cx="114300" cy="13335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800100" y="571500"/>
            <a:ext cx="18105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Collections: Lists, Tuples, and Dictionaries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800100" y="1028700"/>
            <a:ext cx="117271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Managing complex data structures for scientific workflows</a:t>
            </a:r>
            <a:endParaRPr lang="en-US" sz="1350" dirty="0"/>
          </a:p>
        </p:txBody>
      </p:sp>
      <p:sp>
        <p:nvSpPr>
          <p:cNvPr id="20" name="Text 2"/>
          <p:cNvSpPr/>
          <p:nvPr/>
        </p:nvSpPr>
        <p:spPr>
          <a:xfrm>
            <a:off x="1143000" y="190500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Lists</a:t>
            </a:r>
            <a:endParaRPr lang="en-US" sz="1800" dirty="0"/>
          </a:p>
        </p:txBody>
      </p:sp>
      <p:sp>
        <p:nvSpPr>
          <p:cNvPr id="21" name="Text 3"/>
          <p:cNvSpPr/>
          <p:nvPr/>
        </p:nvSpPr>
        <p:spPr>
          <a:xfrm>
            <a:off x="800100" y="2362200"/>
            <a:ext cx="30733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42" kern="0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MUTABLE &amp; ORDERED</a:t>
            </a:r>
            <a:endParaRPr lang="en-US" sz="1050" dirty="0"/>
          </a:p>
        </p:txBody>
      </p:sp>
      <p:sp>
        <p:nvSpPr>
          <p:cNvPr id="22" name="Text 4"/>
          <p:cNvSpPr/>
          <p:nvPr/>
        </p:nvSpPr>
        <p:spPr>
          <a:xfrm>
            <a:off x="800100" y="2628900"/>
            <a:ext cx="30733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Ideal for dynamic data like time series or experimental results.</a:t>
            </a:r>
            <a:endParaRPr lang="en-US" sz="1050" dirty="0"/>
          </a:p>
        </p:txBody>
      </p:sp>
      <p:sp>
        <p:nvSpPr>
          <p:cNvPr id="23" name="Text 5"/>
          <p:cNvSpPr/>
          <p:nvPr/>
        </p:nvSpPr>
        <p:spPr>
          <a:xfrm>
            <a:off x="952500" y="3162300"/>
            <a:ext cx="2768501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F8F9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data = [1, 2, 3, 4, 5] # Modifiable data.append(6)</a:t>
            </a:r>
            <a:endParaRPr lang="en-US" sz="1020" dirty="0"/>
          </a:p>
        </p:txBody>
      </p:sp>
      <p:sp>
        <p:nvSpPr>
          <p:cNvPr id="24" name="Text 6"/>
          <p:cNvSpPr/>
          <p:nvPr/>
        </p:nvSpPr>
        <p:spPr>
          <a:xfrm>
            <a:off x="800100" y="4007941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for: Sequential measurements</a:t>
            </a:r>
            <a:endParaRPr lang="en-US" sz="900" dirty="0"/>
          </a:p>
        </p:txBody>
      </p:sp>
      <p:sp>
        <p:nvSpPr>
          <p:cNvPr id="25" name="Text 7"/>
          <p:cNvSpPr/>
          <p:nvPr/>
        </p:nvSpPr>
        <p:spPr>
          <a:xfrm>
            <a:off x="4902101" y="1905000"/>
            <a:ext cx="1645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Tuples</a:t>
            </a:r>
            <a:endParaRPr lang="en-US" sz="1800" dirty="0"/>
          </a:p>
        </p:txBody>
      </p:sp>
      <p:sp>
        <p:nvSpPr>
          <p:cNvPr id="26" name="Text 8"/>
          <p:cNvSpPr/>
          <p:nvPr/>
        </p:nvSpPr>
        <p:spPr>
          <a:xfrm>
            <a:off x="4559201" y="2362200"/>
            <a:ext cx="307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42" kern="0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IMMUTABLE &amp; ORDERED</a:t>
            </a:r>
            <a:endParaRPr lang="en-US" sz="1050" dirty="0"/>
          </a:p>
        </p:txBody>
      </p:sp>
      <p:sp>
        <p:nvSpPr>
          <p:cNvPr id="27" name="Text 9"/>
          <p:cNvSpPr/>
          <p:nvPr/>
        </p:nvSpPr>
        <p:spPr>
          <a:xfrm>
            <a:off x="4559201" y="2628900"/>
            <a:ext cx="3073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for fixed structures like coordinates or physical constants.</a:t>
            </a:r>
            <a:endParaRPr lang="en-US" sz="1050" dirty="0"/>
          </a:p>
        </p:txBody>
      </p:sp>
      <p:sp>
        <p:nvSpPr>
          <p:cNvPr id="28" name="Text 10"/>
          <p:cNvSpPr/>
          <p:nvPr/>
        </p:nvSpPr>
        <p:spPr>
          <a:xfrm>
            <a:off x="4711601" y="3162300"/>
            <a:ext cx="2768650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F8F9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coords = (10.5, 20.3) # Cannot be changed</a:t>
            </a:r>
            <a:endParaRPr lang="en-US" sz="1020" dirty="0"/>
          </a:p>
        </p:txBody>
      </p:sp>
      <p:sp>
        <p:nvSpPr>
          <p:cNvPr id="29" name="Text 11"/>
          <p:cNvSpPr/>
          <p:nvPr/>
        </p:nvSpPr>
        <p:spPr>
          <a:xfrm>
            <a:off x="4559201" y="4007941"/>
            <a:ext cx="411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for: (x, y, z) coordinates</a:t>
            </a:r>
            <a:endParaRPr lang="en-US" sz="900" dirty="0"/>
          </a:p>
        </p:txBody>
      </p:sp>
      <p:sp>
        <p:nvSpPr>
          <p:cNvPr id="30" name="Text 12"/>
          <p:cNvSpPr/>
          <p:nvPr/>
        </p:nvSpPr>
        <p:spPr>
          <a:xfrm>
            <a:off x="8661350" y="1905000"/>
            <a:ext cx="32918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Dictionaries</a:t>
            </a:r>
            <a:endParaRPr lang="en-US" sz="1800" dirty="0"/>
          </a:p>
        </p:txBody>
      </p:sp>
      <p:sp>
        <p:nvSpPr>
          <p:cNvPr id="31" name="Text 13"/>
          <p:cNvSpPr/>
          <p:nvPr/>
        </p:nvSpPr>
        <p:spPr>
          <a:xfrm>
            <a:off x="8318450" y="2362200"/>
            <a:ext cx="30733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42" kern="0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KEY-VALUE PAIRS</a:t>
            </a:r>
            <a:endParaRPr lang="en-US" sz="1050" dirty="0"/>
          </a:p>
        </p:txBody>
      </p:sp>
      <p:sp>
        <p:nvSpPr>
          <p:cNvPr id="32" name="Text 14"/>
          <p:cNvSpPr/>
          <p:nvPr/>
        </p:nvSpPr>
        <p:spPr>
          <a:xfrm>
            <a:off x="8318450" y="2628900"/>
            <a:ext cx="30733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 lookup for labeled metadata and configuration.</a:t>
            </a:r>
            <a:endParaRPr lang="en-US" sz="1050" dirty="0"/>
          </a:p>
        </p:txBody>
      </p:sp>
      <p:sp>
        <p:nvSpPr>
          <p:cNvPr id="33" name="Text 15"/>
          <p:cNvSpPr/>
          <p:nvPr/>
        </p:nvSpPr>
        <p:spPr>
          <a:xfrm>
            <a:off x="8470850" y="3162300"/>
            <a:ext cx="2768501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F8F9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params = { "temp": 25.0, "units": "Celsius" }</a:t>
            </a:r>
            <a:endParaRPr lang="en-US" sz="1020" dirty="0"/>
          </a:p>
        </p:txBody>
      </p:sp>
      <p:sp>
        <p:nvSpPr>
          <p:cNvPr id="34" name="Text 16"/>
          <p:cNvSpPr/>
          <p:nvPr/>
        </p:nvSpPr>
        <p:spPr>
          <a:xfrm>
            <a:off x="8318450" y="4007941"/>
            <a:ext cx="411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for: Metadata organization</a:t>
            </a:r>
            <a:endParaRPr lang="en-US" sz="900" dirty="0"/>
          </a:p>
        </p:txBody>
      </p:sp>
      <p:sp>
        <p:nvSpPr>
          <p:cNvPr id="35" name="Text 17"/>
          <p:cNvSpPr/>
          <p:nvPr/>
        </p:nvSpPr>
        <p:spPr>
          <a:xfrm>
            <a:off x="571500" y="5150941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 1</a:t>
            </a:r>
            <a:endParaRPr lang="en-US" sz="1050" dirty="0"/>
          </a:p>
        </p:txBody>
      </p:sp>
      <p:sp>
        <p:nvSpPr>
          <p:cNvPr id="36" name="Text 18"/>
          <p:cNvSpPr/>
          <p:nvPr/>
        </p:nvSpPr>
        <p:spPr>
          <a:xfrm>
            <a:off x="1190625" y="5150941"/>
            <a:ext cx="560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Foundations of Scientific Computing</a:t>
            </a:r>
            <a:endParaRPr lang="en-US" sz="1050" dirty="0"/>
          </a:p>
        </p:txBody>
      </p:sp>
      <p:sp>
        <p:nvSpPr>
          <p:cNvPr id="37" name="Text 19"/>
          <p:cNvSpPr/>
          <p:nvPr/>
        </p:nvSpPr>
        <p:spPr>
          <a:xfrm>
            <a:off x="9620250" y="5150941"/>
            <a:ext cx="480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Review: Data Structures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1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17" y="351317"/>
            <a:ext cx="468423" cy="29276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6810" y="526975"/>
            <a:ext cx="453785" cy="45721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317" y="1452613"/>
            <a:ext cx="4650490" cy="147948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975" y="1657548"/>
            <a:ext cx="124425" cy="14638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423" y="3576183"/>
            <a:ext cx="153701" cy="34571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423" y="4068278"/>
            <a:ext cx="190297" cy="345713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423" y="4560373"/>
            <a:ext cx="190297" cy="34571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6018" y="1455358"/>
            <a:ext cx="226893" cy="22860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6018" y="1862483"/>
            <a:ext cx="3214459" cy="128255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11677" y="2038142"/>
            <a:ext cx="2863142" cy="23421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26136" y="1862483"/>
            <a:ext cx="3214459" cy="128255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01794" y="2038142"/>
            <a:ext cx="2863142" cy="23421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36018" y="3320700"/>
            <a:ext cx="3214459" cy="1282559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11677" y="3496359"/>
            <a:ext cx="2863142" cy="234211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26136" y="3320700"/>
            <a:ext cx="3214459" cy="1282559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01794" y="3496359"/>
            <a:ext cx="2863142" cy="234211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36018" y="4837470"/>
            <a:ext cx="6604577" cy="644081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11677" y="5027767"/>
            <a:ext cx="285445" cy="263487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1317" y="6213919"/>
            <a:ext cx="11489278" cy="292764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51317" y="497699"/>
            <a:ext cx="20705837" cy="4572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94" kern="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Principles of Reproducibility</a:t>
            </a:r>
            <a:endParaRPr lang="en-US" sz="3600" dirty="0"/>
          </a:p>
        </p:txBody>
      </p:sp>
      <p:sp>
        <p:nvSpPr>
          <p:cNvPr id="23" name="Text 1"/>
          <p:cNvSpPr/>
          <p:nvPr/>
        </p:nvSpPr>
        <p:spPr>
          <a:xfrm>
            <a:off x="351317" y="1013467"/>
            <a:ext cx="7288671" cy="1463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3"/>
              </a:lnSpc>
              <a:buNone/>
            </a:pPr>
            <a:r>
              <a:rPr lang="en-US" sz="1050" b="1" spc="109" kern="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SCIENTIFIC INTEGRITY &amp; VERIFICATION</a:t>
            </a:r>
            <a:endParaRPr lang="en-US" sz="1050" dirty="0"/>
          </a:p>
        </p:txBody>
      </p:sp>
      <p:sp>
        <p:nvSpPr>
          <p:cNvPr id="24" name="Text 2"/>
          <p:cNvSpPr/>
          <p:nvPr/>
        </p:nvSpPr>
        <p:spPr>
          <a:xfrm>
            <a:off x="709953" y="1628272"/>
            <a:ext cx="7139946" cy="20493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14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Reproducibility?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526975" y="1921036"/>
            <a:ext cx="4299173" cy="83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i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"Independent researchers can recreate results using the </a:t>
            </a:r>
            <a:pPr indent="0" marL="0">
              <a:lnSpc>
                <a:spcPts val="2194"/>
              </a:lnSpc>
              <a:buNone/>
            </a:pPr>
            <a:r>
              <a:rPr lang="en-US" sz="1350" b="1" i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same data, code, and methods</a:t>
            </a:r>
            <a:pPr indent="0" marL="0">
              <a:lnSpc>
                <a:spcPts val="2194"/>
              </a:lnSpc>
              <a:buNone/>
            </a:pPr>
            <a:r>
              <a:rPr lang="en-US" sz="1350" i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ensuring scientific validity and trust."</a:t>
            </a:r>
            <a:endParaRPr lang="en-US" sz="1350" dirty="0"/>
          </a:p>
        </p:txBody>
      </p:sp>
      <p:sp>
        <p:nvSpPr>
          <p:cNvPr id="26" name="Text 4"/>
          <p:cNvSpPr/>
          <p:nvPr/>
        </p:nvSpPr>
        <p:spPr>
          <a:xfrm>
            <a:off x="468423" y="3224866"/>
            <a:ext cx="4416279" cy="20493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14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27" name="Text 5"/>
          <p:cNvSpPr/>
          <p:nvPr/>
        </p:nvSpPr>
        <p:spPr>
          <a:xfrm>
            <a:off x="739230" y="3554225"/>
            <a:ext cx="4521957" cy="20493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Integrity: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739230" y="3775514"/>
            <a:ext cx="9579396" cy="1463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3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Enables validation by independent researchers.</a:t>
            </a:r>
            <a:endParaRPr lang="en-US" sz="1050" dirty="0"/>
          </a:p>
        </p:txBody>
      </p:sp>
      <p:sp>
        <p:nvSpPr>
          <p:cNvPr id="29" name="Text 7"/>
          <p:cNvSpPr/>
          <p:nvPr/>
        </p:nvSpPr>
        <p:spPr>
          <a:xfrm>
            <a:off x="775825" y="4046321"/>
            <a:ext cx="4045962" cy="20493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Error Prevention: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775825" y="4267609"/>
            <a:ext cx="7913414" cy="1463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3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Prevents propagation of false results.</a:t>
            </a:r>
            <a:endParaRPr lang="en-US" sz="1050" dirty="0"/>
          </a:p>
        </p:txBody>
      </p:sp>
      <p:sp>
        <p:nvSpPr>
          <p:cNvPr id="31" name="Text 9"/>
          <p:cNvSpPr/>
          <p:nvPr/>
        </p:nvSpPr>
        <p:spPr>
          <a:xfrm>
            <a:off x="775825" y="4538416"/>
            <a:ext cx="3093971" cy="20493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 Trust: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775825" y="4759705"/>
            <a:ext cx="8538157" cy="1463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3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Builds confidence in scientific outcomes.</a:t>
            </a:r>
            <a:endParaRPr lang="en-US" sz="1050" dirty="0"/>
          </a:p>
        </p:txBody>
      </p:sp>
      <p:sp>
        <p:nvSpPr>
          <p:cNvPr id="33" name="Text 11"/>
          <p:cNvSpPr/>
          <p:nvPr/>
        </p:nvSpPr>
        <p:spPr>
          <a:xfrm>
            <a:off x="5550740" y="1452613"/>
            <a:ext cx="10352902" cy="2342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44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Reproducibility Checklist</a:t>
            </a:r>
            <a:endParaRPr lang="en-US" sz="1800" dirty="0"/>
          </a:p>
        </p:txBody>
      </p:sp>
      <p:sp>
        <p:nvSpPr>
          <p:cNvPr id="34" name="Text 12"/>
          <p:cNvSpPr/>
          <p:nvPr/>
        </p:nvSpPr>
        <p:spPr>
          <a:xfrm>
            <a:off x="5411677" y="2360182"/>
            <a:ext cx="3569966" cy="22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Data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5411677" y="2676619"/>
            <a:ext cx="2863142" cy="2927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3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 raw data in accessible, standardized formats (CSV, JSON).</a:t>
            </a:r>
            <a:endParaRPr lang="en-US" sz="1050" dirty="0"/>
          </a:p>
        </p:txBody>
      </p:sp>
      <p:sp>
        <p:nvSpPr>
          <p:cNvPr id="36" name="Text 14"/>
          <p:cNvSpPr/>
          <p:nvPr/>
        </p:nvSpPr>
        <p:spPr>
          <a:xfrm>
            <a:off x="8801794" y="2360182"/>
            <a:ext cx="3569966" cy="22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8801794" y="2676619"/>
            <a:ext cx="2863142" cy="2927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3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Git to track changes and preserve the state of the code.</a:t>
            </a:r>
            <a:endParaRPr lang="en-US" sz="1050" dirty="0"/>
          </a:p>
        </p:txBody>
      </p:sp>
      <p:sp>
        <p:nvSpPr>
          <p:cNvPr id="38" name="Text 16"/>
          <p:cNvSpPr/>
          <p:nvPr/>
        </p:nvSpPr>
        <p:spPr>
          <a:xfrm>
            <a:off x="5411677" y="3818399"/>
            <a:ext cx="3331968" cy="22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 Logs</a:t>
            </a:r>
            <a:endParaRPr lang="en-US" sz="1200" dirty="0"/>
          </a:p>
        </p:txBody>
      </p:sp>
      <p:sp>
        <p:nvSpPr>
          <p:cNvPr id="39" name="Text 17"/>
          <p:cNvSpPr/>
          <p:nvPr/>
        </p:nvSpPr>
        <p:spPr>
          <a:xfrm>
            <a:off x="5411677" y="4134836"/>
            <a:ext cx="2863142" cy="2927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3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Record all software versions, dependencies, and variables.</a:t>
            </a:r>
            <a:endParaRPr lang="en-US" sz="1050" dirty="0"/>
          </a:p>
        </p:txBody>
      </p:sp>
      <p:sp>
        <p:nvSpPr>
          <p:cNvPr id="40" name="Text 18"/>
          <p:cNvSpPr/>
          <p:nvPr/>
        </p:nvSpPr>
        <p:spPr>
          <a:xfrm>
            <a:off x="8801794" y="3818399"/>
            <a:ext cx="2863142" cy="22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41" name="Text 19"/>
          <p:cNvSpPr/>
          <p:nvPr/>
        </p:nvSpPr>
        <p:spPr>
          <a:xfrm>
            <a:off x="8801794" y="4134836"/>
            <a:ext cx="2863142" cy="2927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3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 methods and assumptions for every workflow step.</a:t>
            </a:r>
            <a:endParaRPr lang="en-US" sz="1050" dirty="0"/>
          </a:p>
        </p:txBody>
      </p:sp>
      <p:sp>
        <p:nvSpPr>
          <p:cNvPr id="42" name="Text 20"/>
          <p:cNvSpPr/>
          <p:nvPr/>
        </p:nvSpPr>
        <p:spPr>
          <a:xfrm>
            <a:off x="5872780" y="5013129"/>
            <a:ext cx="5792155" cy="2927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3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noted in the 2016 Nature study, over 70% of researchers have tried and failed to reproduce another scientist's experiments.</a:t>
            </a:r>
            <a:endParaRPr lang="en-US" sz="1050" dirty="0"/>
          </a:p>
        </p:txBody>
      </p:sp>
      <p:sp>
        <p:nvSpPr>
          <p:cNvPr id="43" name="Text 21"/>
          <p:cNvSpPr/>
          <p:nvPr/>
        </p:nvSpPr>
        <p:spPr>
          <a:xfrm>
            <a:off x="351317" y="6389577"/>
            <a:ext cx="7794451" cy="1171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2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 1: FOUNDATIONS OF SCIENTIFIC COMPUTING</a:t>
            </a:r>
            <a:endParaRPr lang="en-US" sz="900" dirty="0"/>
          </a:p>
        </p:txBody>
      </p:sp>
      <p:sp>
        <p:nvSpPr>
          <p:cNvPr id="44" name="Text 22"/>
          <p:cNvSpPr/>
          <p:nvPr/>
        </p:nvSpPr>
        <p:spPr>
          <a:xfrm>
            <a:off x="8034661" y="6389577"/>
            <a:ext cx="10531434" cy="1171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2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REPRODUCIBILITY IS THE CORNERSTONE OF THE SCIENTIFIC METHOD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3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48" y="373648"/>
            <a:ext cx="11444677" cy="70630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48" y="1391328"/>
            <a:ext cx="5597789" cy="276185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47" y="1640427"/>
            <a:ext cx="373648" cy="37364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375" y="1702702"/>
            <a:ext cx="202393" cy="24909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747" y="2678541"/>
            <a:ext cx="62275" cy="622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747" y="3031634"/>
            <a:ext cx="62275" cy="622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747" y="3384727"/>
            <a:ext cx="62275" cy="622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747" y="3737819"/>
            <a:ext cx="62275" cy="622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0536" y="1391328"/>
            <a:ext cx="5597789" cy="276185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9635" y="1640427"/>
            <a:ext cx="373648" cy="37364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5262" y="1702702"/>
            <a:ext cx="202393" cy="249099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69635" y="2678541"/>
            <a:ext cx="62275" cy="6227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9635" y="3031634"/>
            <a:ext cx="62275" cy="6227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69635" y="3384727"/>
            <a:ext cx="62275" cy="6227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69635" y="3737819"/>
            <a:ext cx="62275" cy="6227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3648" y="4402285"/>
            <a:ext cx="11444677" cy="871846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2747" y="4682521"/>
            <a:ext cx="342511" cy="311373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86627" y="4713659"/>
            <a:ext cx="1756949" cy="249099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68125" y="4713659"/>
            <a:ext cx="1801102" cy="249099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73648" y="6204115"/>
            <a:ext cx="11444677" cy="280236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560472" y="373648"/>
            <a:ext cx="23496257" cy="45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88" kern="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Control and Data Management</a:t>
            </a:r>
            <a:endParaRPr lang="en-US" sz="3600" dirty="0"/>
          </a:p>
        </p:txBody>
      </p:sp>
      <p:sp>
        <p:nvSpPr>
          <p:cNvPr id="24" name="Text 1"/>
          <p:cNvSpPr/>
          <p:nvPr/>
        </p:nvSpPr>
        <p:spPr>
          <a:xfrm>
            <a:off x="560472" y="861994"/>
            <a:ext cx="11257852" cy="21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16"/>
              </a:lnSpc>
              <a:buNone/>
            </a:pPr>
            <a:r>
              <a:rPr lang="en-US" sz="1350" b="1" spc="132" kern="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ENSURING LONG-TERM RESEARCH VALIDITY</a:t>
            </a:r>
            <a:endParaRPr lang="en-US" sz="1350" dirty="0"/>
          </a:p>
        </p:txBody>
      </p:sp>
      <p:sp>
        <p:nvSpPr>
          <p:cNvPr id="25" name="Text 2"/>
          <p:cNvSpPr/>
          <p:nvPr/>
        </p:nvSpPr>
        <p:spPr>
          <a:xfrm>
            <a:off x="1120944" y="1702702"/>
            <a:ext cx="8055873" cy="2490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61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Control with Git</a:t>
            </a:r>
            <a:endParaRPr lang="en-US" sz="1800" dirty="0"/>
          </a:p>
        </p:txBody>
      </p:sp>
      <p:sp>
        <p:nvSpPr>
          <p:cNvPr id="26" name="Text 3"/>
          <p:cNvSpPr/>
          <p:nvPr/>
        </p:nvSpPr>
        <p:spPr>
          <a:xfrm>
            <a:off x="622747" y="2200899"/>
            <a:ext cx="9398519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"Time Machine" for your research code.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778434" y="2616267"/>
            <a:ext cx="13202681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History: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Record every modification to code over time.</a:t>
            </a:r>
            <a:endParaRPr lang="en-US" sz="1200" dirty="0"/>
          </a:p>
        </p:txBody>
      </p:sp>
      <p:sp>
        <p:nvSpPr>
          <p:cNvPr id="28" name="Text 5"/>
          <p:cNvSpPr/>
          <p:nvPr/>
        </p:nvSpPr>
        <p:spPr>
          <a:xfrm>
            <a:off x="778434" y="2969359"/>
            <a:ext cx="13874004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Error Recovery: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Instantly revert to previous working versions.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778434" y="3322452"/>
            <a:ext cx="14097778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Collaboration: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Seamlessly merge work from multiple researchers.</a:t>
            </a:r>
            <a:endParaRPr lang="en-US" sz="1200" dirty="0"/>
          </a:p>
        </p:txBody>
      </p:sp>
      <p:sp>
        <p:nvSpPr>
          <p:cNvPr id="30" name="Text 7"/>
          <p:cNvSpPr/>
          <p:nvPr/>
        </p:nvSpPr>
        <p:spPr>
          <a:xfrm>
            <a:off x="778434" y="3675545"/>
            <a:ext cx="1342645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Transparency: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Share code publicly via platforms like GitHub.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6967832" y="1702702"/>
            <a:ext cx="8055873" cy="2490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61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 Data Archiving</a:t>
            </a:r>
            <a:endParaRPr lang="en-US" sz="1800" dirty="0"/>
          </a:p>
        </p:txBody>
      </p:sp>
      <p:sp>
        <p:nvSpPr>
          <p:cNvPr id="32" name="Text 9"/>
          <p:cNvSpPr/>
          <p:nvPr/>
        </p:nvSpPr>
        <p:spPr>
          <a:xfrm>
            <a:off x="6469635" y="2200899"/>
            <a:ext cx="10517390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Making data accessible, usable, and persistent.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6625321" y="2616267"/>
            <a:ext cx="13650229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Metadata: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Document collection methods, units, and timestamps.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6625321" y="2969359"/>
            <a:ext cx="1499287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Persistent IDs: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Use DOIs for datasets to ensure long-term citation.</a:t>
            </a:r>
            <a:endParaRPr lang="en-US" sz="1200" dirty="0"/>
          </a:p>
        </p:txBody>
      </p:sp>
      <p:sp>
        <p:nvSpPr>
          <p:cNvPr id="35" name="Text 12"/>
          <p:cNvSpPr/>
          <p:nvPr/>
        </p:nvSpPr>
        <p:spPr>
          <a:xfrm>
            <a:off x="6625321" y="3322452"/>
            <a:ext cx="12755132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 Repositories: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Store in Figshare, Zenodo, or Dryad.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6625321" y="3675545"/>
            <a:ext cx="13351864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 Formats: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Use open formats like CSV, JSON, or HDF5.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1152082" y="4651384"/>
            <a:ext cx="5137662" cy="21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16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Audit Trail</a:t>
            </a:r>
            <a:endParaRPr lang="en-US" sz="1500" dirty="0"/>
          </a:p>
        </p:txBody>
      </p:sp>
      <p:sp>
        <p:nvSpPr>
          <p:cNvPr id="38" name="Text 15"/>
          <p:cNvSpPr/>
          <p:nvPr/>
        </p:nvSpPr>
        <p:spPr>
          <a:xfrm>
            <a:off x="1152082" y="4869345"/>
            <a:ext cx="15860023" cy="1556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6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computational step must be traceable and the exact state of code preserved.</a:t>
            </a:r>
            <a:endParaRPr lang="en-US" sz="1050" dirty="0"/>
          </a:p>
        </p:txBody>
      </p:sp>
      <p:sp>
        <p:nvSpPr>
          <p:cNvPr id="39" name="Text 16"/>
          <p:cNvSpPr/>
          <p:nvPr/>
        </p:nvSpPr>
        <p:spPr>
          <a:xfrm>
            <a:off x="8011176" y="4713659"/>
            <a:ext cx="3144196" cy="2490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81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Week 1 Lab Requirement</a:t>
            </a:r>
            <a:endParaRPr lang="en-US" sz="900" dirty="0"/>
          </a:p>
        </p:txBody>
      </p:sp>
      <p:sp>
        <p:nvSpPr>
          <p:cNvPr id="40" name="Text 17"/>
          <p:cNvSpPr/>
          <p:nvPr/>
        </p:nvSpPr>
        <p:spPr>
          <a:xfrm>
            <a:off x="9892674" y="4713659"/>
            <a:ext cx="2788565" cy="2490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81"/>
              </a:lnSpc>
              <a:buNone/>
            </a:pPr>
            <a:r>
              <a:rPr lang="en-US" sz="900" b="1" spc="88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REPRODUCIBILITY GOAL</a:t>
            </a:r>
            <a:endParaRPr lang="en-US" sz="900" dirty="0"/>
          </a:p>
        </p:txBody>
      </p:sp>
      <p:sp>
        <p:nvSpPr>
          <p:cNvPr id="41" name="Text 18"/>
          <p:cNvSpPr/>
          <p:nvPr/>
        </p:nvSpPr>
        <p:spPr>
          <a:xfrm>
            <a:off x="373648" y="6328665"/>
            <a:ext cx="9659603" cy="1556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6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Foundations of Scientific Computing — Lecture 01</a:t>
            </a:r>
            <a:endParaRPr lang="en-US" sz="1050" dirty="0"/>
          </a:p>
        </p:txBody>
      </p:sp>
      <p:sp>
        <p:nvSpPr>
          <p:cNvPr id="42" name="Text 19"/>
          <p:cNvSpPr/>
          <p:nvPr/>
        </p:nvSpPr>
        <p:spPr>
          <a:xfrm>
            <a:off x="10269242" y="6328665"/>
            <a:ext cx="5221407" cy="1556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6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Section 7: Reproducibility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59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9033" y="656741"/>
            <a:ext cx="1606981" cy="4145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946" y="1604074"/>
            <a:ext cx="5475987" cy="188304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19" y="1852047"/>
            <a:ext cx="317715" cy="27896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9905" y="1604074"/>
            <a:ext cx="5476109" cy="188304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878" y="1852047"/>
            <a:ext cx="356461" cy="27896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946" y="3735091"/>
            <a:ext cx="5475987" cy="188304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919" y="3983064"/>
            <a:ext cx="286719" cy="27897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9905" y="3735091"/>
            <a:ext cx="5476109" cy="188304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7878" y="3983064"/>
            <a:ext cx="286719" cy="27897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946" y="5866108"/>
            <a:ext cx="11200069" cy="495946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95946" y="495946"/>
            <a:ext cx="23602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88" kern="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Computational Ethics &amp; Transparency</a:t>
            </a:r>
            <a:endParaRPr lang="en-US" sz="3600" dirty="0"/>
          </a:p>
        </p:txBody>
      </p:sp>
      <p:sp>
        <p:nvSpPr>
          <p:cNvPr id="14" name="Text 1"/>
          <p:cNvSpPr/>
          <p:nvPr/>
        </p:nvSpPr>
        <p:spPr>
          <a:xfrm>
            <a:off x="495946" y="1015139"/>
            <a:ext cx="13487382" cy="2169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8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Ensuring Scientific Integrity in the Digital Age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10275012" y="780727"/>
            <a:ext cx="2556981" cy="1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0"/>
              </a:lnSpc>
              <a:buNone/>
            </a:pPr>
            <a:r>
              <a:rPr lang="en-US" sz="1050" b="1" spc="103" kern="0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ETHICS MODULE</a:t>
            </a:r>
            <a:endParaRPr lang="en-US" sz="1050" dirty="0"/>
          </a:p>
        </p:txBody>
      </p:sp>
      <p:sp>
        <p:nvSpPr>
          <p:cNvPr id="16" name="Text 3"/>
          <p:cNvSpPr/>
          <p:nvPr/>
        </p:nvSpPr>
        <p:spPr>
          <a:xfrm>
            <a:off x="1185620" y="1867546"/>
            <a:ext cx="4046220" cy="2479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3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Transparency</a:t>
            </a:r>
            <a:endParaRPr lang="en-US" sz="1800" dirty="0"/>
          </a:p>
        </p:txBody>
      </p:sp>
      <p:sp>
        <p:nvSpPr>
          <p:cNvPr id="17" name="Text 4"/>
          <p:cNvSpPr/>
          <p:nvPr/>
        </p:nvSpPr>
        <p:spPr>
          <a:xfrm>
            <a:off x="743919" y="2286000"/>
            <a:ext cx="224790" cy="18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200" dirty="0"/>
          </a:p>
        </p:txBody>
      </p:sp>
      <p:sp>
        <p:nvSpPr>
          <p:cNvPr id="18" name="Text 5"/>
          <p:cNvSpPr/>
          <p:nvPr/>
        </p:nvSpPr>
        <p:spPr>
          <a:xfrm>
            <a:off x="860156" y="2255003"/>
            <a:ext cx="13037842" cy="18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sharing of code, data, and methods via </a:t>
            </a:r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GitHub/GitLab</a:t>
            </a:r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</p:txBody>
      </p:sp>
      <p:sp>
        <p:nvSpPr>
          <p:cNvPr id="19" name="Text 6"/>
          <p:cNvSpPr/>
          <p:nvPr/>
        </p:nvSpPr>
        <p:spPr>
          <a:xfrm>
            <a:off x="743919" y="2564969"/>
            <a:ext cx="224790" cy="18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200" dirty="0"/>
          </a:p>
        </p:txBody>
      </p:sp>
      <p:sp>
        <p:nvSpPr>
          <p:cNvPr id="20" name="Text 7"/>
          <p:cNvSpPr/>
          <p:nvPr/>
        </p:nvSpPr>
        <p:spPr>
          <a:xfrm>
            <a:off x="860156" y="2533973"/>
            <a:ext cx="14161794" cy="18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Enabling peer validation and building public trust in research.</a:t>
            </a:r>
            <a:endParaRPr lang="en-US" sz="1200" dirty="0"/>
          </a:p>
        </p:txBody>
      </p:sp>
      <p:sp>
        <p:nvSpPr>
          <p:cNvPr id="21" name="Text 8"/>
          <p:cNvSpPr/>
          <p:nvPr/>
        </p:nvSpPr>
        <p:spPr>
          <a:xfrm>
            <a:off x="6948326" y="1867546"/>
            <a:ext cx="5394960" cy="2479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3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Bias &amp; Integrity</a:t>
            </a:r>
            <a:endParaRPr lang="en-US" sz="1800" dirty="0"/>
          </a:p>
        </p:txBody>
      </p:sp>
      <p:sp>
        <p:nvSpPr>
          <p:cNvPr id="22" name="Text 9"/>
          <p:cNvSpPr/>
          <p:nvPr/>
        </p:nvSpPr>
        <p:spPr>
          <a:xfrm>
            <a:off x="6467878" y="2286000"/>
            <a:ext cx="224790" cy="18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200" dirty="0"/>
          </a:p>
        </p:txBody>
      </p:sp>
      <p:sp>
        <p:nvSpPr>
          <p:cNvPr id="23" name="Text 10"/>
          <p:cNvSpPr/>
          <p:nvPr/>
        </p:nvSpPr>
        <p:spPr>
          <a:xfrm>
            <a:off x="6584116" y="2255003"/>
            <a:ext cx="11689100" cy="18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Vigilance against </a:t>
            </a:r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p-hacking</a:t>
            </a:r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selective reporting.</a:t>
            </a:r>
            <a:endParaRPr lang="en-US" sz="1200" dirty="0"/>
          </a:p>
        </p:txBody>
      </p:sp>
      <p:sp>
        <p:nvSpPr>
          <p:cNvPr id="24" name="Text 11"/>
          <p:cNvSpPr/>
          <p:nvPr/>
        </p:nvSpPr>
        <p:spPr>
          <a:xfrm>
            <a:off x="6467878" y="2564969"/>
            <a:ext cx="224790" cy="18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200" dirty="0"/>
          </a:p>
        </p:txBody>
      </p:sp>
      <p:sp>
        <p:nvSpPr>
          <p:cNvPr id="25" name="Text 12"/>
          <p:cNvSpPr/>
          <p:nvPr/>
        </p:nvSpPr>
        <p:spPr>
          <a:xfrm>
            <a:off x="6584116" y="2533973"/>
            <a:ext cx="11464309" cy="18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Reporting all results, including </a:t>
            </a:r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negative findings</a:t>
            </a:r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</p:txBody>
      </p:sp>
      <p:sp>
        <p:nvSpPr>
          <p:cNvPr id="26" name="Text 13"/>
          <p:cNvSpPr/>
          <p:nvPr/>
        </p:nvSpPr>
        <p:spPr>
          <a:xfrm>
            <a:off x="1154624" y="3998563"/>
            <a:ext cx="6406515" cy="2479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3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Authorship &amp; Credit</a:t>
            </a:r>
            <a:endParaRPr lang="en-US" sz="1800" dirty="0"/>
          </a:p>
        </p:txBody>
      </p:sp>
      <p:sp>
        <p:nvSpPr>
          <p:cNvPr id="27" name="Text 14"/>
          <p:cNvSpPr/>
          <p:nvPr/>
        </p:nvSpPr>
        <p:spPr>
          <a:xfrm>
            <a:off x="743919" y="4417017"/>
            <a:ext cx="224790" cy="18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200" dirty="0"/>
          </a:p>
        </p:txBody>
      </p:sp>
      <p:sp>
        <p:nvSpPr>
          <p:cNvPr id="28" name="Text 15"/>
          <p:cNvSpPr/>
          <p:nvPr/>
        </p:nvSpPr>
        <p:spPr>
          <a:xfrm>
            <a:off x="860156" y="4386020"/>
            <a:ext cx="13037842" cy="18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Proper </a:t>
            </a:r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attribution</a:t>
            </a:r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code, datasets, and software tools.</a:t>
            </a:r>
            <a:endParaRPr lang="en-US" sz="1200" dirty="0"/>
          </a:p>
        </p:txBody>
      </p:sp>
      <p:sp>
        <p:nvSpPr>
          <p:cNvPr id="29" name="Text 16"/>
          <p:cNvSpPr/>
          <p:nvPr/>
        </p:nvSpPr>
        <p:spPr>
          <a:xfrm>
            <a:off x="743919" y="4695986"/>
            <a:ext cx="224790" cy="18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Text 17"/>
          <p:cNvSpPr/>
          <p:nvPr/>
        </p:nvSpPr>
        <p:spPr>
          <a:xfrm>
            <a:off x="860156" y="4664990"/>
            <a:ext cx="10340358" cy="18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Standardized citation using tools like </a:t>
            </a:r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Zenodo</a:t>
            </a:r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</p:txBody>
      </p:sp>
      <p:sp>
        <p:nvSpPr>
          <p:cNvPr id="31" name="Text 18"/>
          <p:cNvSpPr/>
          <p:nvPr/>
        </p:nvSpPr>
        <p:spPr>
          <a:xfrm>
            <a:off x="6878584" y="3998563"/>
            <a:ext cx="6069330" cy="2479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3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Privacy &amp; Security</a:t>
            </a:r>
            <a:endParaRPr lang="en-US" sz="1800" dirty="0"/>
          </a:p>
        </p:txBody>
      </p:sp>
      <p:sp>
        <p:nvSpPr>
          <p:cNvPr id="32" name="Text 19"/>
          <p:cNvSpPr/>
          <p:nvPr/>
        </p:nvSpPr>
        <p:spPr>
          <a:xfrm>
            <a:off x="6467878" y="4417017"/>
            <a:ext cx="224790" cy="18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200" dirty="0"/>
          </a:p>
        </p:txBody>
      </p:sp>
      <p:sp>
        <p:nvSpPr>
          <p:cNvPr id="33" name="Text 20"/>
          <p:cNvSpPr/>
          <p:nvPr/>
        </p:nvSpPr>
        <p:spPr>
          <a:xfrm>
            <a:off x="6584116" y="4386020"/>
            <a:ext cx="12363471" cy="18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Strict safeguards for sensitive data (medical/genetic).</a:t>
            </a:r>
            <a:endParaRPr lang="en-US" sz="1200" dirty="0"/>
          </a:p>
        </p:txBody>
      </p:sp>
      <p:sp>
        <p:nvSpPr>
          <p:cNvPr id="34" name="Text 21"/>
          <p:cNvSpPr/>
          <p:nvPr/>
        </p:nvSpPr>
        <p:spPr>
          <a:xfrm>
            <a:off x="6467878" y="4695986"/>
            <a:ext cx="224790" cy="18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200" dirty="0"/>
          </a:p>
        </p:txBody>
      </p:sp>
      <p:sp>
        <p:nvSpPr>
          <p:cNvPr id="35" name="Text 22"/>
          <p:cNvSpPr/>
          <p:nvPr/>
        </p:nvSpPr>
        <p:spPr>
          <a:xfrm>
            <a:off x="6584116" y="4664990"/>
            <a:ext cx="11014729" cy="18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Compliance with </a:t>
            </a:r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GDPR/HIPAA</a:t>
            </a:r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use of encryption.</a:t>
            </a:r>
            <a:endParaRPr lang="en-US" sz="1200" dirty="0"/>
          </a:p>
        </p:txBody>
      </p:sp>
      <p:sp>
        <p:nvSpPr>
          <p:cNvPr id="36" name="Text 23"/>
          <p:cNvSpPr/>
          <p:nvPr/>
        </p:nvSpPr>
        <p:spPr>
          <a:xfrm>
            <a:off x="495946" y="6052088"/>
            <a:ext cx="5951349" cy="3099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0"/>
              </a:lnSpc>
              <a:buNone/>
            </a:pPr>
            <a:r>
              <a:rPr lang="en-US" sz="1050" i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"Ethical computing is not a secondary concern but a foundational principle. By embracing transparency, integrity, and protection, scientists uphold the public’s trust."</a:t>
            </a:r>
            <a:endParaRPr lang="en-US" sz="1050" dirty="0"/>
          </a:p>
        </p:txBody>
      </p:sp>
      <p:sp>
        <p:nvSpPr>
          <p:cNvPr id="37" name="Text 24"/>
          <p:cNvSpPr/>
          <p:nvPr/>
        </p:nvSpPr>
        <p:spPr>
          <a:xfrm>
            <a:off x="7874584" y="6238067"/>
            <a:ext cx="3821430" cy="1239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976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Lecture 01 • Page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33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80" y="372380"/>
            <a:ext cx="11447173" cy="64342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190" y="736517"/>
            <a:ext cx="1334363" cy="27928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380" y="1264056"/>
            <a:ext cx="6573988" cy="193523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570" y="1463580"/>
            <a:ext cx="193948" cy="19055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570" y="2144216"/>
            <a:ext cx="6201608" cy="49650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570" y="2764850"/>
            <a:ext cx="1984451" cy="248253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7148" y="2764850"/>
            <a:ext cx="1984451" cy="24825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5726" y="2764850"/>
            <a:ext cx="1984451" cy="248253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2380" y="3385483"/>
            <a:ext cx="3224870" cy="1190477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7538" y="3578704"/>
            <a:ext cx="193948" cy="152249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21377" y="3385483"/>
            <a:ext cx="3224991" cy="1190477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76535" y="3578704"/>
            <a:ext cx="155159" cy="152249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2023" y="5349691"/>
            <a:ext cx="310317" cy="310317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01686" y="5349691"/>
            <a:ext cx="310317" cy="310317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75834" y="5349691"/>
            <a:ext cx="310317" cy="310317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81014" y="5349691"/>
            <a:ext cx="310317" cy="310317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94621" y="1264056"/>
            <a:ext cx="4624932" cy="4725057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42874" y="1522128"/>
            <a:ext cx="170674" cy="228616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42874" y="1977784"/>
            <a:ext cx="139643" cy="217222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42874" y="2536354"/>
            <a:ext cx="162917" cy="217222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42874" y="3250083"/>
            <a:ext cx="162917" cy="217222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42874" y="4996100"/>
            <a:ext cx="4128425" cy="74476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42874" y="5244353"/>
            <a:ext cx="4128425" cy="496507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67001" y="5416482"/>
            <a:ext cx="155159" cy="152249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72380" y="6237366"/>
            <a:ext cx="11447173" cy="248253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558570" y="372380"/>
            <a:ext cx="7377175" cy="15515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2"/>
              </a:lnSpc>
              <a:buNone/>
            </a:pPr>
            <a:r>
              <a:rPr lang="en-US" sz="1050" b="1" spc="103" kern="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TASK</a:t>
            </a:r>
            <a:endParaRPr lang="en-US" sz="1050" dirty="0"/>
          </a:p>
        </p:txBody>
      </p:sp>
      <p:sp>
        <p:nvSpPr>
          <p:cNvPr id="29" name="Text 1"/>
          <p:cNvSpPr/>
          <p:nvPr/>
        </p:nvSpPr>
        <p:spPr>
          <a:xfrm>
            <a:off x="558570" y="558570"/>
            <a:ext cx="22902659" cy="45723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88" kern="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Lab: Writing Your First Experiment</a:t>
            </a:r>
            <a:endParaRPr lang="en-US" sz="3600" dirty="0"/>
          </a:p>
        </p:txBody>
      </p:sp>
      <p:sp>
        <p:nvSpPr>
          <p:cNvPr id="30" name="Text 2"/>
          <p:cNvSpPr/>
          <p:nvPr/>
        </p:nvSpPr>
        <p:spPr>
          <a:xfrm>
            <a:off x="10609318" y="736517"/>
            <a:ext cx="2829697" cy="27928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2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 01 • LAB 01</a:t>
            </a:r>
            <a:endParaRPr lang="en-US" sz="1050" dirty="0"/>
          </a:p>
        </p:txBody>
      </p:sp>
      <p:sp>
        <p:nvSpPr>
          <p:cNvPr id="31" name="Text 3"/>
          <p:cNvSpPr/>
          <p:nvPr/>
        </p:nvSpPr>
        <p:spPr>
          <a:xfrm>
            <a:off x="814581" y="1450246"/>
            <a:ext cx="6201608" cy="21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The Physical Model</a:t>
            </a:r>
            <a:endParaRPr lang="en-US" sz="1500" dirty="0"/>
          </a:p>
        </p:txBody>
      </p:sp>
      <p:sp>
        <p:nvSpPr>
          <p:cNvPr id="32" name="Text 4"/>
          <p:cNvSpPr/>
          <p:nvPr/>
        </p:nvSpPr>
        <p:spPr>
          <a:xfrm>
            <a:off x="558570" y="1791594"/>
            <a:ext cx="10104097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Simulate free-fall motion using the equation:</a:t>
            </a:r>
            <a:endParaRPr lang="en-US" sz="1200" dirty="0"/>
          </a:p>
        </p:txBody>
      </p:sp>
      <p:sp>
        <p:nvSpPr>
          <p:cNvPr id="33" name="Text 5"/>
          <p:cNvSpPr/>
          <p:nvPr/>
        </p:nvSpPr>
        <p:spPr>
          <a:xfrm>
            <a:off x="558570" y="2144216"/>
            <a:ext cx="5896808" cy="4965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55"/>
              </a:lnSpc>
              <a:buNone/>
            </a:pPr>
            <a:r>
              <a:rPr lang="en-US" sz="1800" i="1" dirty="0">
                <a:solidFill>
                  <a:srgbClr val="2D3436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y(t) = h₀ - ½gt²</a:t>
            </a:r>
            <a:endParaRPr lang="en-US" sz="1800" dirty="0"/>
          </a:p>
        </p:txBody>
      </p:sp>
      <p:sp>
        <p:nvSpPr>
          <p:cNvPr id="34" name="Text 6"/>
          <p:cNvSpPr/>
          <p:nvPr/>
        </p:nvSpPr>
        <p:spPr>
          <a:xfrm>
            <a:off x="558570" y="2764850"/>
            <a:ext cx="1832051" cy="2482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77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H₀ = 100M</a:t>
            </a:r>
            <a:endParaRPr lang="en-US" sz="900" dirty="0"/>
          </a:p>
        </p:txBody>
      </p:sp>
      <p:sp>
        <p:nvSpPr>
          <p:cNvPr id="35" name="Text 7"/>
          <p:cNvSpPr/>
          <p:nvPr/>
        </p:nvSpPr>
        <p:spPr>
          <a:xfrm>
            <a:off x="2546715" y="2764850"/>
            <a:ext cx="2072918" cy="2482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77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 = 9.8 M/S²</a:t>
            </a:r>
            <a:endParaRPr lang="en-US" sz="900" dirty="0"/>
          </a:p>
        </p:txBody>
      </p:sp>
      <p:sp>
        <p:nvSpPr>
          <p:cNvPr id="36" name="Text 8"/>
          <p:cNvSpPr/>
          <p:nvPr/>
        </p:nvSpPr>
        <p:spPr>
          <a:xfrm>
            <a:off x="4603470" y="2764850"/>
            <a:ext cx="2176564" cy="2482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77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 = 0 TO 10S</a:t>
            </a:r>
            <a:endParaRPr lang="en-US" sz="900" dirty="0"/>
          </a:p>
        </p:txBody>
      </p:sp>
      <p:sp>
        <p:nvSpPr>
          <p:cNvPr id="37" name="Text 9"/>
          <p:cNvSpPr/>
          <p:nvPr/>
        </p:nvSpPr>
        <p:spPr>
          <a:xfrm>
            <a:off x="783550" y="3540641"/>
            <a:ext cx="3143497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527538" y="3831200"/>
            <a:ext cx="5304666" cy="15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22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Use </a:t>
            </a:r>
            <a:pPr algn="l" indent="0" marL="0">
              <a:lnSpc>
                <a:spcPts val="1222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NumPy</a:t>
            </a:r>
            <a:pPr algn="l" indent="0" marL="0">
              <a:lnSpc>
                <a:spcPts val="1222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time arrays</a:t>
            </a:r>
            <a:endParaRPr lang="en-US" sz="1050" dirty="0"/>
          </a:p>
        </p:txBody>
      </p:sp>
      <p:sp>
        <p:nvSpPr>
          <p:cNvPr id="39" name="Text 11"/>
          <p:cNvSpPr/>
          <p:nvPr/>
        </p:nvSpPr>
        <p:spPr>
          <a:xfrm>
            <a:off x="527538" y="4048421"/>
            <a:ext cx="6090543" cy="15515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22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Vectorized height calculation</a:t>
            </a:r>
            <a:endParaRPr lang="en-US" sz="1050" dirty="0"/>
          </a:p>
        </p:txBody>
      </p:sp>
      <p:sp>
        <p:nvSpPr>
          <p:cNvPr id="40" name="Text 12"/>
          <p:cNvSpPr/>
          <p:nvPr/>
        </p:nvSpPr>
        <p:spPr>
          <a:xfrm>
            <a:off x="527538" y="4265643"/>
            <a:ext cx="6025053" cy="15515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22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Handle ground impact (y &lt; 0)</a:t>
            </a:r>
            <a:endParaRPr lang="en-US" sz="1050" dirty="0"/>
          </a:p>
        </p:txBody>
      </p:sp>
      <p:sp>
        <p:nvSpPr>
          <p:cNvPr id="41" name="Text 13"/>
          <p:cNvSpPr/>
          <p:nvPr/>
        </p:nvSpPr>
        <p:spPr>
          <a:xfrm>
            <a:off x="4093757" y="3540641"/>
            <a:ext cx="2918961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42" name="Text 14"/>
          <p:cNvSpPr/>
          <p:nvPr/>
        </p:nvSpPr>
        <p:spPr>
          <a:xfrm>
            <a:off x="3876535" y="3831200"/>
            <a:ext cx="4322321" cy="15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22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</a:t>
            </a:r>
            <a:pPr algn="l" indent="0" marL="0">
              <a:lnSpc>
                <a:spcPts val="1222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Matplotlib</a:t>
            </a:r>
            <a:pPr algn="l" indent="0" marL="0">
              <a:lnSpc>
                <a:spcPts val="1222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line plot</a:t>
            </a:r>
            <a:endParaRPr lang="en-US" sz="1050" dirty="0"/>
          </a:p>
        </p:txBody>
      </p:sp>
      <p:sp>
        <p:nvSpPr>
          <p:cNvPr id="43" name="Text 15"/>
          <p:cNvSpPr/>
          <p:nvPr/>
        </p:nvSpPr>
        <p:spPr>
          <a:xfrm>
            <a:off x="3876535" y="4048421"/>
            <a:ext cx="4911728" cy="15515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22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Labels, Title, and Grid</a:t>
            </a:r>
            <a:endParaRPr lang="en-US" sz="1050" dirty="0"/>
          </a:p>
        </p:txBody>
      </p:sp>
      <p:sp>
        <p:nvSpPr>
          <p:cNvPr id="44" name="Text 16"/>
          <p:cNvSpPr/>
          <p:nvPr/>
        </p:nvSpPr>
        <p:spPr>
          <a:xfrm>
            <a:off x="3876535" y="4265643"/>
            <a:ext cx="5042708" cy="15515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22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Mark ground level (y=0)</a:t>
            </a:r>
            <a:endParaRPr lang="en-US" sz="1050" dirty="0"/>
          </a:p>
        </p:txBody>
      </p:sp>
      <p:sp>
        <p:nvSpPr>
          <p:cNvPr id="45" name="Text 17"/>
          <p:cNvSpPr/>
          <p:nvPr/>
        </p:nvSpPr>
        <p:spPr>
          <a:xfrm>
            <a:off x="605118" y="5349691"/>
            <a:ext cx="561339" cy="31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77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900" dirty="0"/>
          </a:p>
        </p:txBody>
      </p:sp>
      <p:sp>
        <p:nvSpPr>
          <p:cNvPr id="46" name="Text 18"/>
          <p:cNvSpPr/>
          <p:nvPr/>
        </p:nvSpPr>
        <p:spPr>
          <a:xfrm>
            <a:off x="496507" y="5722071"/>
            <a:ext cx="842012" cy="1429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DEFINE</a:t>
            </a:r>
            <a:endParaRPr lang="en-US" sz="750" dirty="0"/>
          </a:p>
        </p:txBody>
      </p:sp>
      <p:sp>
        <p:nvSpPr>
          <p:cNvPr id="47" name="Text 19"/>
          <p:cNvSpPr/>
          <p:nvPr/>
        </p:nvSpPr>
        <p:spPr>
          <a:xfrm>
            <a:off x="2594781" y="5349691"/>
            <a:ext cx="561339" cy="31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77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900" dirty="0"/>
          </a:p>
        </p:txBody>
      </p:sp>
      <p:sp>
        <p:nvSpPr>
          <p:cNvPr id="48" name="Text 20"/>
          <p:cNvSpPr/>
          <p:nvPr/>
        </p:nvSpPr>
        <p:spPr>
          <a:xfrm>
            <a:off x="2524960" y="5722071"/>
            <a:ext cx="561341" cy="1429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CODE</a:t>
            </a:r>
            <a:endParaRPr lang="en-US" sz="750" dirty="0"/>
          </a:p>
        </p:txBody>
      </p:sp>
      <p:sp>
        <p:nvSpPr>
          <p:cNvPr id="49" name="Text 21"/>
          <p:cNvSpPr/>
          <p:nvPr/>
        </p:nvSpPr>
        <p:spPr>
          <a:xfrm>
            <a:off x="4568929" y="5349691"/>
            <a:ext cx="561339" cy="31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77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900" dirty="0"/>
          </a:p>
        </p:txBody>
      </p:sp>
      <p:sp>
        <p:nvSpPr>
          <p:cNvPr id="50" name="Text 22"/>
          <p:cNvSpPr/>
          <p:nvPr/>
        </p:nvSpPr>
        <p:spPr>
          <a:xfrm>
            <a:off x="4506866" y="5722071"/>
            <a:ext cx="561341" cy="1429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PLOT</a:t>
            </a:r>
            <a:endParaRPr lang="en-US" sz="750" dirty="0"/>
          </a:p>
        </p:txBody>
      </p:sp>
      <p:sp>
        <p:nvSpPr>
          <p:cNvPr id="51" name="Text 23"/>
          <p:cNvSpPr/>
          <p:nvPr/>
        </p:nvSpPr>
        <p:spPr>
          <a:xfrm>
            <a:off x="6574109" y="5349691"/>
            <a:ext cx="561339" cy="31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77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900" dirty="0"/>
          </a:p>
        </p:txBody>
      </p:sp>
      <p:sp>
        <p:nvSpPr>
          <p:cNvPr id="52" name="Text 24"/>
          <p:cNvSpPr/>
          <p:nvPr/>
        </p:nvSpPr>
        <p:spPr>
          <a:xfrm>
            <a:off x="6449982" y="5722071"/>
            <a:ext cx="842012" cy="1429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D34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</a:t>
            </a:r>
            <a:endParaRPr lang="en-US" sz="750" dirty="0"/>
          </a:p>
        </p:txBody>
      </p:sp>
      <p:sp>
        <p:nvSpPr>
          <p:cNvPr id="53" name="Text 25"/>
          <p:cNvSpPr/>
          <p:nvPr/>
        </p:nvSpPr>
        <p:spPr>
          <a:xfrm>
            <a:off x="7706644" y="1512309"/>
            <a:ext cx="4128425" cy="2482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5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Deliverables</a:t>
            </a:r>
            <a:endParaRPr lang="en-US" sz="1800" dirty="0"/>
          </a:p>
        </p:txBody>
      </p:sp>
      <p:sp>
        <p:nvSpPr>
          <p:cNvPr id="54" name="Text 26"/>
          <p:cNvSpPr/>
          <p:nvPr/>
        </p:nvSpPr>
        <p:spPr>
          <a:xfrm>
            <a:off x="7706644" y="1946753"/>
            <a:ext cx="6315075" cy="21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Jupyter Notebook (.ipynb)</a:t>
            </a:r>
            <a:endParaRPr lang="en-US" sz="1350" dirty="0"/>
          </a:p>
        </p:txBody>
      </p:sp>
      <p:sp>
        <p:nvSpPr>
          <p:cNvPr id="55" name="Text 27"/>
          <p:cNvSpPr/>
          <p:nvPr/>
        </p:nvSpPr>
        <p:spPr>
          <a:xfrm>
            <a:off x="7706644" y="2163974"/>
            <a:ext cx="11002271" cy="15515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2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Must include Title, Code, Visualization, and Conclusion.</a:t>
            </a:r>
            <a:endParaRPr lang="en-US" sz="1050" dirty="0"/>
          </a:p>
        </p:txBody>
      </p:sp>
      <p:sp>
        <p:nvSpPr>
          <p:cNvPr id="56" name="Text 28"/>
          <p:cNvSpPr/>
          <p:nvPr/>
        </p:nvSpPr>
        <p:spPr>
          <a:xfrm>
            <a:off x="7729918" y="2505323"/>
            <a:ext cx="3841382" cy="21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README.md</a:t>
            </a:r>
            <a:endParaRPr lang="en-US" sz="1350" dirty="0"/>
          </a:p>
        </p:txBody>
      </p:sp>
      <p:sp>
        <p:nvSpPr>
          <p:cNvPr id="57" name="Text 29"/>
          <p:cNvSpPr/>
          <p:nvPr/>
        </p:nvSpPr>
        <p:spPr>
          <a:xfrm>
            <a:off x="7729918" y="2722545"/>
            <a:ext cx="3841382" cy="31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2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Author, project description, and dependencies (NumPy, Matplotlib).</a:t>
            </a:r>
            <a:endParaRPr lang="en-US" sz="1050" dirty="0"/>
          </a:p>
        </p:txBody>
      </p:sp>
      <p:sp>
        <p:nvSpPr>
          <p:cNvPr id="58" name="Text 30"/>
          <p:cNvSpPr/>
          <p:nvPr/>
        </p:nvSpPr>
        <p:spPr>
          <a:xfrm>
            <a:off x="7729918" y="3219051"/>
            <a:ext cx="3789045" cy="21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 Control</a:t>
            </a:r>
            <a:endParaRPr lang="en-US" sz="1350" dirty="0"/>
          </a:p>
        </p:txBody>
      </p:sp>
      <p:sp>
        <p:nvSpPr>
          <p:cNvPr id="59" name="Text 31"/>
          <p:cNvSpPr/>
          <p:nvPr/>
        </p:nvSpPr>
        <p:spPr>
          <a:xfrm>
            <a:off x="7729918" y="3436273"/>
            <a:ext cx="10805802" cy="15515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2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 history on GitHub reflecting development stages.</a:t>
            </a:r>
            <a:endParaRPr lang="en-US" sz="1050" dirty="0"/>
          </a:p>
        </p:txBody>
      </p:sp>
      <p:sp>
        <p:nvSpPr>
          <p:cNvPr id="60" name="Text 32"/>
          <p:cNvSpPr/>
          <p:nvPr/>
        </p:nvSpPr>
        <p:spPr>
          <a:xfrm>
            <a:off x="7846286" y="5368480"/>
            <a:ext cx="3600886" cy="2482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77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 the notebook runs </a:t>
            </a:r>
            <a:pPr indent="0" marL="0">
              <a:lnSpc>
                <a:spcPts val="977"/>
              </a:lnSpc>
              <a:buNone/>
            </a:pPr>
            <a:r>
              <a:rPr lang="en-US" sz="900" b="1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</a:t>
            </a:r>
            <a:pPr indent="0" marL="0">
              <a:lnSpc>
                <a:spcPts val="977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without errors in a clean environment before submission.</a:t>
            </a:r>
            <a:endParaRPr lang="en-US" sz="900" dirty="0"/>
          </a:p>
        </p:txBody>
      </p:sp>
      <p:sp>
        <p:nvSpPr>
          <p:cNvPr id="61" name="Text 33"/>
          <p:cNvSpPr/>
          <p:nvPr/>
        </p:nvSpPr>
        <p:spPr>
          <a:xfrm>
            <a:off x="372380" y="6361493"/>
            <a:ext cx="6006324" cy="1241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77"/>
              </a:lnSpc>
              <a:buNone/>
            </a:pPr>
            <a:r>
              <a:rPr lang="en-US" sz="900" b="1" spc="44" kern="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COURSE: SCIENTIFIC COMPUTING 2026</a:t>
            </a:r>
            <a:endParaRPr lang="en-US" sz="900" dirty="0"/>
          </a:p>
        </p:txBody>
      </p:sp>
      <p:sp>
        <p:nvSpPr>
          <p:cNvPr id="62" name="Text 34"/>
          <p:cNvSpPr/>
          <p:nvPr/>
        </p:nvSpPr>
        <p:spPr>
          <a:xfrm>
            <a:off x="9844071" y="6361493"/>
            <a:ext cx="5276584" cy="1241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77"/>
              </a:lnSpc>
              <a:buNone/>
            </a:pPr>
            <a:r>
              <a:rPr lang="en-US" sz="900" b="1" spc="44" kern="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 1 SUMMARY — SLIDE 25/25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2026-03-02T07:44:02Z</dcterms:created>
  <dcterms:modified xsi:type="dcterms:W3CDTF">2026-03-02T07:44:02Z</dcterms:modified>
</cp:coreProperties>
</file>